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6858000" cy="1219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33" d="100"/>
          <a:sy n="33" d="100"/>
        </p:scale>
        <p:origin x="2472" y="60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EFDAD-F5CC-F281-ACB2-0DC3C579E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F35984-5198-88B5-458A-FF96CCB45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F5C1A6-ABFC-2BAA-6DC3-9993DC326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8FDB67-1771-4E31-E15C-0F6DDA95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37FFFF-B7CE-3142-6D57-9F2FCDE3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46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A69C3-42E6-230A-D986-F0037000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38A29E-A928-7014-C9FA-2C04A063E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5ABA33-CC8E-A31A-42B0-07C4B498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A65F2-A5DE-16F9-6F59-3692A0B3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EDED9C-CFB6-8CBE-18B3-9FD0B0E9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5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E48AEB-D163-2E07-3A3D-D3F79535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FCB486-A1F7-9997-0824-6DCB6079C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6F86C-EA64-0B2E-3EA7-21DC2FEB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6890EE-A281-61D7-B7C0-FDC3CF21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7817B0-F1C4-1024-B040-9761D05C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78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2E65BD-C7D8-D82E-6BDB-5DCF95EA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4A144D-4961-B539-A5E3-589BC3999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D1D8B2-EF3A-EB17-7688-B2FA0446A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BF1331-5538-6D63-DFD8-54103321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6A1A83-3A1F-86DC-C3CB-7B6E3001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A0796D-1E5D-9F8F-790D-C768B17E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298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502ACA-2747-A653-2FDA-730CF7FE6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549901-3258-9559-1829-139501706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C407A4-86E9-795F-C441-F0919E267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147E796-C2AF-0DEC-3D6F-400C1ACFB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C4032A-6498-3BBA-1AB2-A00A2E0F9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1E4EB25-F1B0-D92F-E5E8-B37CED14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BD95BA0-43F9-84EF-14F6-8410F5909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D957C0-6CDC-8339-F60F-BAB64102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95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CB26E5-B192-4C67-38F2-CBF39296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C76A70-1338-EB9B-A91D-713A7D6F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758EC16-9ED4-909B-9971-42D7BF55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F340886-7B49-D6FD-327C-EF1F4648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785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0F7EA30-DEDD-3F2D-7DB9-7A838941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F356E9-0DBF-0EE7-7D0E-C173391B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96E354-EBDF-6BEB-4D98-4E698B0A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878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0ECB1-8021-EAEF-37A6-846C7B7B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A5E92F-03E9-C4C0-EF36-08C94DD20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A9DA9E-02A0-F0A6-2468-96D9134EE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EAFC19-7695-B58C-9642-A9AE5BA9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BBBB26-0B87-5440-7675-75538129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E5C9CD-15F1-E04E-517D-2141114D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1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8EA7F8-98D6-5755-2359-DC90E1D1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2751B2F-DE9D-FD72-FC2B-C76BF2EC5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E20BD9-4F59-0E1C-092A-FA2041649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8BA0FD-E26F-C9D7-3F1F-AA2D497C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8D894C-9C78-3BFE-0481-CDA052AA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130D12-40EA-DB3E-22BA-CAE26B1C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684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F9D0EE-C539-AB6C-515E-985C43B9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3A785C-F3CC-5EED-5FA2-0930D4E85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1DB923-EEF5-A412-A1E6-88303F5B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8A3845-C516-2723-747D-1F4E5D07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536E09-E517-BC2A-E4E9-4BFB84E8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11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765659-CD37-D868-6587-B8C2CD424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8FB860-5E9D-A8A2-51B7-EF828D3F8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B91E5F-26E7-1EE1-BB71-3BB4BA49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53E9F-E58D-A891-1B2E-5E55E32A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41905D-9E15-70CC-CF67-188365E0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8733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03F0DA-0194-4209-819C-F2509C3A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D7CC6-BA81-6FF0-0450-A3266749B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DC9550-88A8-3A5C-EDE6-160E6BD12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7238D-4D86-4962-9668-94DD6542184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2525D8-F74D-4350-D3F6-20F55E93A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CB86C6-976F-0594-C788-C742BBFA6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2E871-6AEE-4CFE-B9C3-13A787C1D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00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F967D6-B579-ABEA-2A10-D12AED69281E}"/>
              </a:ext>
            </a:extLst>
          </p:cNvPr>
          <p:cNvSpPr txBox="1"/>
          <p:nvPr/>
        </p:nvSpPr>
        <p:spPr>
          <a:xfrm>
            <a:off x="431800" y="431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9B4F1A"/>
                </a:solidFill>
                <a:latin typeface="Arial" panose="020B0604020202020204" pitchFamily="34" charset="0"/>
              </a:rPr>
              <a:t>WorkMate Australia</a:t>
            </a:r>
            <a:endParaRPr kumimoji="1" lang="ja-JP" altLang="en-US" sz="16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E53118-C0F3-E72D-1DA2-D9239F8A5D91}"/>
              </a:ext>
            </a:extLst>
          </p:cNvPr>
          <p:cNvSpPr txBox="1"/>
          <p:nvPr/>
        </p:nvSpPr>
        <p:spPr>
          <a:xfrm>
            <a:off x="431800" y="838200"/>
            <a:ext cx="5994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3300" b="1">
                <a:solidFill>
                  <a:srgbClr val="1E130A"/>
                </a:solidFill>
                <a:latin typeface="Arial" panose="020B0604020202020204" pitchFamily="34" charset="0"/>
              </a:rPr>
              <a:t>When the app is active...</a:t>
            </a:r>
            <a:endParaRPr kumimoji="1" lang="ja-JP" altLang="en-US" sz="33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E343E0-9EE2-BBB3-30D7-E3EE799E70EE}"/>
              </a:ext>
            </a:extLst>
          </p:cNvPr>
          <p:cNvSpPr txBox="1"/>
          <p:nvPr/>
        </p:nvSpPr>
        <p:spPr>
          <a:xfrm>
            <a:off x="431800" y="1828800"/>
            <a:ext cx="558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7A6248"/>
                </a:solidFill>
                <a:latin typeface="Arial" panose="020B0604020202020204" pitchFamily="34" charset="0"/>
              </a:rPr>
              <a:t>Employers see real activity, not empty listings.</a:t>
            </a:r>
            <a:endParaRPr kumimoji="1" lang="ja-JP" altLang="en-US" sz="15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5323D3A-C6C4-7AE2-D57A-2C2B0DC1EE8E}"/>
              </a:ext>
            </a:extLst>
          </p:cNvPr>
          <p:cNvSpPr/>
          <p:nvPr/>
        </p:nvSpPr>
        <p:spPr>
          <a:xfrm>
            <a:off x="850900" y="2222500"/>
            <a:ext cx="5156200" cy="8763000"/>
          </a:xfrm>
          <a:prstGeom prst="roundRect">
            <a:avLst>
              <a:gd name="adj" fmla="val 18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F8AA626-ADEE-7A44-253D-F753D3C71EF1}"/>
              </a:ext>
            </a:extLst>
          </p:cNvPr>
          <p:cNvSpPr/>
          <p:nvPr/>
        </p:nvSpPr>
        <p:spPr>
          <a:xfrm>
            <a:off x="1003300" y="2374900"/>
            <a:ext cx="4851400" cy="8458200"/>
          </a:xfrm>
          <a:prstGeom prst="roundRect">
            <a:avLst>
              <a:gd name="adj" fmla="val 13000"/>
            </a:avLst>
          </a:prstGeom>
          <a:solidFill>
            <a:srgbClr val="F5F0E8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2A37E16-3750-2D60-33A5-5217C646ECF3}"/>
              </a:ext>
            </a:extLst>
          </p:cNvPr>
          <p:cNvSpPr/>
          <p:nvPr/>
        </p:nvSpPr>
        <p:spPr>
          <a:xfrm>
            <a:off x="2641600" y="2501900"/>
            <a:ext cx="1574800" cy="254000"/>
          </a:xfrm>
          <a:prstGeom prst="roundRect">
            <a:avLst>
              <a:gd name="adj" fmla="val 50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B8E6B80-A880-6F50-3288-482FEE4F5765}"/>
              </a:ext>
            </a:extLst>
          </p:cNvPr>
          <p:cNvSpPr/>
          <p:nvPr/>
        </p:nvSpPr>
        <p:spPr>
          <a:xfrm>
            <a:off x="1003300" y="2374900"/>
            <a:ext cx="4851400" cy="1879600"/>
          </a:xfrm>
          <a:prstGeom prst="roundRect">
            <a:avLst>
              <a:gd name="adj" fmla="val 8000"/>
            </a:avLst>
          </a:prstGeom>
          <a:solidFill>
            <a:srgbClr val="EDE0CC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E8E930-70EF-62EE-477D-C660BA2E29B9}"/>
              </a:ext>
            </a:extLst>
          </p:cNvPr>
          <p:cNvSpPr txBox="1"/>
          <p:nvPr/>
        </p:nvSpPr>
        <p:spPr>
          <a:xfrm>
            <a:off x="1320800" y="29464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7A6248"/>
                </a:solidFill>
                <a:latin typeface="Arial" panose="020B0604020202020204" pitchFamily="34" charset="0"/>
              </a:rPr>
              <a:t>Good day</a:t>
            </a:r>
            <a:endParaRPr kumimoji="1" lang="ja-JP" altLang="en-US" sz="110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972DE8A-3DB9-283C-4210-397BEB4824EE}"/>
              </a:ext>
            </a:extLst>
          </p:cNvPr>
          <p:cNvSpPr txBox="1"/>
          <p:nvPr/>
        </p:nvSpPr>
        <p:spPr>
          <a:xfrm>
            <a:off x="1320800" y="3200400"/>
            <a:ext cx="330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200" b="1">
                <a:solidFill>
                  <a:srgbClr val="1E130A"/>
                </a:solidFill>
                <a:latin typeface="Arial" panose="020B0604020202020204" pitchFamily="34" charset="0"/>
              </a:rPr>
              <a:t>WorkMate Australia</a:t>
            </a:r>
            <a:endParaRPr kumimoji="1" lang="ja-JP" altLang="en-US" sz="22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C837BA-CEC5-0069-F5AA-83CD6DE120FD}"/>
              </a:ext>
            </a:extLst>
          </p:cNvPr>
          <p:cNvSpPr txBox="1"/>
          <p:nvPr/>
        </p:nvSpPr>
        <p:spPr>
          <a:xfrm>
            <a:off x="1320800" y="35814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7A6248"/>
                </a:solidFill>
                <a:latin typeface="Arial" panose="020B0604020202020204" pitchFamily="34" charset="0"/>
              </a:rPr>
              <a:t>Hospitality jobs and staff in Sydney</a:t>
            </a:r>
            <a:endParaRPr kumimoji="1" lang="ja-JP" altLang="en-US" sz="11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1299012-227A-FC8B-A4A5-6325ECB7A2A6}"/>
              </a:ext>
            </a:extLst>
          </p:cNvPr>
          <p:cNvSpPr/>
          <p:nvPr/>
        </p:nvSpPr>
        <p:spPr>
          <a:xfrm>
            <a:off x="1320800" y="3937000"/>
            <a:ext cx="1219200" cy="685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2315B31-E9E7-0CBE-EBED-568BA136711E}"/>
              </a:ext>
            </a:extLst>
          </p:cNvPr>
          <p:cNvSpPr txBox="1"/>
          <p:nvPr/>
        </p:nvSpPr>
        <p:spPr>
          <a:xfrm>
            <a:off x="1447800" y="4064000"/>
            <a:ext cx="965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9B4F1A"/>
                </a:solidFill>
                <a:latin typeface="Arial" panose="020B0604020202020204" pitchFamily="34" charset="0"/>
              </a:rPr>
              <a:t>128</a:t>
            </a:r>
            <a:endParaRPr kumimoji="1" lang="ja-JP" altLang="en-US" sz="2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C559A31-FE3F-2616-30A2-4EF5A845B523}"/>
              </a:ext>
            </a:extLst>
          </p:cNvPr>
          <p:cNvSpPr txBox="1"/>
          <p:nvPr/>
        </p:nvSpPr>
        <p:spPr>
          <a:xfrm>
            <a:off x="1447800" y="4368800"/>
            <a:ext cx="990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50" b="1">
                <a:solidFill>
                  <a:srgbClr val="7A6248"/>
                </a:solidFill>
                <a:latin typeface="Arial" panose="020B0604020202020204" pitchFamily="34" charset="0"/>
              </a:rPr>
              <a:t>staff profiles</a:t>
            </a:r>
            <a:endParaRPr kumimoji="1" lang="ja-JP" altLang="en-US" sz="85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623DA27-CE69-9E72-6D61-D5D4412957DF}"/>
              </a:ext>
            </a:extLst>
          </p:cNvPr>
          <p:cNvSpPr/>
          <p:nvPr/>
        </p:nvSpPr>
        <p:spPr>
          <a:xfrm>
            <a:off x="2717800" y="3937000"/>
            <a:ext cx="1219200" cy="685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97A5DE-89C8-BB0B-748C-508F849A7B55}"/>
              </a:ext>
            </a:extLst>
          </p:cNvPr>
          <p:cNvSpPr txBox="1"/>
          <p:nvPr/>
        </p:nvSpPr>
        <p:spPr>
          <a:xfrm>
            <a:off x="2844800" y="4064000"/>
            <a:ext cx="965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9B4F1A"/>
                </a:solidFill>
                <a:latin typeface="Arial" panose="020B0604020202020204" pitchFamily="34" charset="0"/>
              </a:rPr>
              <a:t>42</a:t>
            </a:r>
            <a:endParaRPr kumimoji="1" lang="ja-JP" altLang="en-US" sz="2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3FF737E-BC4A-09DC-C1BE-579ECDF31CB9}"/>
              </a:ext>
            </a:extLst>
          </p:cNvPr>
          <p:cNvSpPr txBox="1"/>
          <p:nvPr/>
        </p:nvSpPr>
        <p:spPr>
          <a:xfrm>
            <a:off x="2844800" y="4368800"/>
            <a:ext cx="990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50" b="1">
                <a:solidFill>
                  <a:srgbClr val="7A6248"/>
                </a:solidFill>
                <a:latin typeface="Arial" panose="020B0604020202020204" pitchFamily="34" charset="0"/>
              </a:rPr>
              <a:t>open jobs</a:t>
            </a:r>
            <a:endParaRPr kumimoji="1" lang="ja-JP" altLang="en-US" sz="85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53AA603-CBDA-2F67-2A36-FB890133F5C3}"/>
              </a:ext>
            </a:extLst>
          </p:cNvPr>
          <p:cNvSpPr/>
          <p:nvPr/>
        </p:nvSpPr>
        <p:spPr>
          <a:xfrm>
            <a:off x="4114800" y="3937000"/>
            <a:ext cx="1219200" cy="685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AE6D8F7-D7E5-5060-691A-F769D70F5167}"/>
              </a:ext>
            </a:extLst>
          </p:cNvPr>
          <p:cNvSpPr txBox="1"/>
          <p:nvPr/>
        </p:nvSpPr>
        <p:spPr>
          <a:xfrm>
            <a:off x="4241800" y="4064000"/>
            <a:ext cx="965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9B4F1A"/>
                </a:solidFill>
                <a:latin typeface="Arial" panose="020B0604020202020204" pitchFamily="34" charset="0"/>
              </a:rPr>
              <a:t>310</a:t>
            </a:r>
            <a:endParaRPr kumimoji="1" lang="ja-JP" altLang="en-US" sz="2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84A12A1-9B7D-79AC-A36E-5BF7C7F2B5A7}"/>
              </a:ext>
            </a:extLst>
          </p:cNvPr>
          <p:cNvSpPr txBox="1"/>
          <p:nvPr/>
        </p:nvSpPr>
        <p:spPr>
          <a:xfrm>
            <a:off x="4241800" y="4368800"/>
            <a:ext cx="990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50" b="1">
                <a:solidFill>
                  <a:srgbClr val="7A6248"/>
                </a:solidFill>
                <a:latin typeface="Arial" panose="020B0604020202020204" pitchFamily="34" charset="0"/>
              </a:rPr>
              <a:t>messages</a:t>
            </a:r>
            <a:endParaRPr kumimoji="1" lang="ja-JP" altLang="en-US" sz="85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5BC4810-304A-C8A1-1494-63FCD43B288C}"/>
              </a:ext>
            </a:extLst>
          </p:cNvPr>
          <p:cNvSpPr txBox="1"/>
          <p:nvPr/>
        </p:nvSpPr>
        <p:spPr>
          <a:xfrm>
            <a:off x="1320800" y="4851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1E130A"/>
                </a:solidFill>
                <a:latin typeface="Arial" panose="020B0604020202020204" pitchFamily="34" charset="0"/>
              </a:rPr>
              <a:t>Today's activity</a:t>
            </a:r>
            <a:endParaRPr kumimoji="1" lang="ja-JP" altLang="en-US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474114F-0CB9-D11C-7943-6B59D1580DAA}"/>
              </a:ext>
            </a:extLst>
          </p:cNvPr>
          <p:cNvSpPr/>
          <p:nvPr/>
        </p:nvSpPr>
        <p:spPr>
          <a:xfrm>
            <a:off x="1320800" y="5334000"/>
            <a:ext cx="4216400" cy="939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DBD72C3-D1CB-7D81-525E-F8ED1073CB2D}"/>
              </a:ext>
            </a:extLst>
          </p:cNvPr>
          <p:cNvSpPr/>
          <p:nvPr/>
        </p:nvSpPr>
        <p:spPr>
          <a:xfrm>
            <a:off x="1473200" y="5473700"/>
            <a:ext cx="660400" cy="660400"/>
          </a:xfrm>
          <a:prstGeom prst="roundRect">
            <a:avLst>
              <a:gd name="adj" fmla="val 16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1BF75E-D6CE-418C-79F8-CA5DE6026F1D}"/>
              </a:ext>
            </a:extLst>
          </p:cNvPr>
          <p:cNvSpPr txBox="1"/>
          <p:nvPr/>
        </p:nvSpPr>
        <p:spPr>
          <a:xfrm>
            <a:off x="1638300" y="5626100"/>
            <a:ext cx="35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FFFFFF"/>
                </a:solidFill>
                <a:latin typeface="Arial" panose="020B0604020202020204" pitchFamily="34" charset="0"/>
              </a:rPr>
              <a:t>C</a:t>
            </a:r>
            <a:endParaRPr kumimoji="1" lang="ja-JP" altLang="en-US" sz="2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EA93DBC-5E9C-5124-D3F4-DE6C50F2B98B}"/>
              </a:ext>
            </a:extLst>
          </p:cNvPr>
          <p:cNvSpPr txBox="1"/>
          <p:nvPr/>
        </p:nvSpPr>
        <p:spPr>
          <a:xfrm>
            <a:off x="2286000" y="5486400"/>
            <a:ext cx="274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E130A"/>
                </a:solidFill>
                <a:latin typeface="Arial" panose="020B0604020202020204" pitchFamily="34" charset="0"/>
              </a:rPr>
              <a:t>Barista shifts matched</a:t>
            </a:r>
            <a:endParaRPr kumimoji="1" lang="ja-JP" altLang="en-US" sz="15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3E3949A-5D8A-0F6C-134F-AFCAC9DA31CD}"/>
              </a:ext>
            </a:extLst>
          </p:cNvPr>
          <p:cNvSpPr txBox="1"/>
          <p:nvPr/>
        </p:nvSpPr>
        <p:spPr>
          <a:xfrm>
            <a:off x="2286000" y="57404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12 candidates available this week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C195DE4-2105-0AB8-5227-EDA895082512}"/>
              </a:ext>
            </a:extLst>
          </p:cNvPr>
          <p:cNvSpPr/>
          <p:nvPr/>
        </p:nvSpPr>
        <p:spPr>
          <a:xfrm>
            <a:off x="2286000" y="59817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13DFB9C-A396-DBBB-91AA-BCEA62164299}"/>
              </a:ext>
            </a:extLst>
          </p:cNvPr>
          <p:cNvSpPr txBox="1"/>
          <p:nvPr/>
        </p:nvSpPr>
        <p:spPr>
          <a:xfrm>
            <a:off x="2400300" y="60452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Cafe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F4B8E55-257E-5979-AC70-71273295AA77}"/>
              </a:ext>
            </a:extLst>
          </p:cNvPr>
          <p:cNvSpPr/>
          <p:nvPr/>
        </p:nvSpPr>
        <p:spPr>
          <a:xfrm>
            <a:off x="3403600" y="59817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85FB1A6-848E-916F-3485-99E1C564FC05}"/>
              </a:ext>
            </a:extLst>
          </p:cNvPr>
          <p:cNvSpPr txBox="1"/>
          <p:nvPr/>
        </p:nvSpPr>
        <p:spPr>
          <a:xfrm>
            <a:off x="3517900" y="60452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Part-time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11E5EC88-09EA-7F37-6B72-1F1DD2C108CA}"/>
              </a:ext>
            </a:extLst>
          </p:cNvPr>
          <p:cNvSpPr/>
          <p:nvPr/>
        </p:nvSpPr>
        <p:spPr>
          <a:xfrm>
            <a:off x="1320800" y="6426200"/>
            <a:ext cx="4216400" cy="939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DA19EB17-D092-90BA-C463-94C6F716101B}"/>
              </a:ext>
            </a:extLst>
          </p:cNvPr>
          <p:cNvSpPr/>
          <p:nvPr/>
        </p:nvSpPr>
        <p:spPr>
          <a:xfrm>
            <a:off x="1473200" y="6565900"/>
            <a:ext cx="660400" cy="660400"/>
          </a:xfrm>
          <a:prstGeom prst="roundRect">
            <a:avLst>
              <a:gd name="adj" fmla="val 16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198FB54-6A99-8F77-C932-0D4D5D834448}"/>
              </a:ext>
            </a:extLst>
          </p:cNvPr>
          <p:cNvSpPr txBox="1"/>
          <p:nvPr/>
        </p:nvSpPr>
        <p:spPr>
          <a:xfrm>
            <a:off x="1638300" y="6718300"/>
            <a:ext cx="35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FFFFFF"/>
                </a:solidFill>
                <a:latin typeface="Arial" panose="020B0604020202020204" pitchFamily="34" charset="0"/>
              </a:rPr>
              <a:t>K</a:t>
            </a:r>
            <a:endParaRPr kumimoji="1" lang="ja-JP" altLang="en-US" sz="2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0C59BE6-F526-E435-E3CE-F81B50CC1B2B}"/>
              </a:ext>
            </a:extLst>
          </p:cNvPr>
          <p:cNvSpPr txBox="1"/>
          <p:nvPr/>
        </p:nvSpPr>
        <p:spPr>
          <a:xfrm>
            <a:off x="2286000" y="6578600"/>
            <a:ext cx="274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E130A"/>
                </a:solidFill>
                <a:latin typeface="Arial" panose="020B0604020202020204" pitchFamily="34" charset="0"/>
              </a:rPr>
              <a:t>Kitchen hand applicants</a:t>
            </a:r>
            <a:endParaRPr kumimoji="1" lang="ja-JP" altLang="en-US" sz="15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9491573-8771-2168-BCC2-525429EABAC5}"/>
              </a:ext>
            </a:extLst>
          </p:cNvPr>
          <p:cNvSpPr txBox="1"/>
          <p:nvPr/>
        </p:nvSpPr>
        <p:spPr>
          <a:xfrm>
            <a:off x="2286000" y="68326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7 new applications since morning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3F5B98A6-7734-0367-08D4-744A4C9AABB9}"/>
              </a:ext>
            </a:extLst>
          </p:cNvPr>
          <p:cNvSpPr/>
          <p:nvPr/>
        </p:nvSpPr>
        <p:spPr>
          <a:xfrm>
            <a:off x="2286000" y="70739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A8239EB-8BB9-FA4E-6376-14BEBEBA936A}"/>
              </a:ext>
            </a:extLst>
          </p:cNvPr>
          <p:cNvSpPr txBox="1"/>
          <p:nvPr/>
        </p:nvSpPr>
        <p:spPr>
          <a:xfrm>
            <a:off x="2400300" y="71374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Dinner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217ECCE3-4E0A-263C-7C52-9819BB3AA30B}"/>
              </a:ext>
            </a:extLst>
          </p:cNvPr>
          <p:cNvSpPr/>
          <p:nvPr/>
        </p:nvSpPr>
        <p:spPr>
          <a:xfrm>
            <a:off x="3403600" y="70739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04B4568-9666-E34E-3724-0A93581162E8}"/>
              </a:ext>
            </a:extLst>
          </p:cNvPr>
          <p:cNvSpPr txBox="1"/>
          <p:nvPr/>
        </p:nvSpPr>
        <p:spPr>
          <a:xfrm>
            <a:off x="3517900" y="71374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CBD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23F830EE-C580-4926-E242-39A0AC34B56E}"/>
              </a:ext>
            </a:extLst>
          </p:cNvPr>
          <p:cNvSpPr/>
          <p:nvPr/>
        </p:nvSpPr>
        <p:spPr>
          <a:xfrm>
            <a:off x="1295400" y="10058400"/>
            <a:ext cx="4267200" cy="584200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BFF2E4C-2EB6-930B-EB79-F54BCBB1A968}"/>
              </a:ext>
            </a:extLst>
          </p:cNvPr>
          <p:cNvSpPr txBox="1"/>
          <p:nvPr/>
        </p:nvSpPr>
        <p:spPr>
          <a:xfrm>
            <a:off x="1587500" y="10236200"/>
            <a:ext cx="3619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7A6248"/>
                </a:solidFill>
                <a:latin typeface="Arial" panose="020B0604020202020204" pitchFamily="34" charset="0"/>
              </a:rPr>
              <a:t>Home      Jobs      Staff      DM      Profile</a:t>
            </a:r>
            <a:endParaRPr kumimoji="1" lang="ja-JP" altLang="en-US" sz="10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78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fade thruBlk="1"/>
      </p:transition>
    </mc:Choice>
    <mc:Fallback>
      <p:transition spd="slow" advTm="3000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DC8858-6D3A-1F22-7A9A-4793437F4ABD}"/>
              </a:ext>
            </a:extLst>
          </p:cNvPr>
          <p:cNvSpPr txBox="1"/>
          <p:nvPr/>
        </p:nvSpPr>
        <p:spPr>
          <a:xfrm>
            <a:off x="431800" y="431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9B4F1A"/>
                </a:solidFill>
                <a:latin typeface="Arial" panose="020B0604020202020204" pitchFamily="34" charset="0"/>
              </a:rPr>
              <a:t>WorkMate Australia</a:t>
            </a:r>
            <a:endParaRPr kumimoji="1" lang="ja-JP" altLang="en-US" sz="16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B36462-511D-9A96-DE01-A1347D59FEA4}"/>
              </a:ext>
            </a:extLst>
          </p:cNvPr>
          <p:cNvSpPr txBox="1"/>
          <p:nvPr/>
        </p:nvSpPr>
        <p:spPr>
          <a:xfrm>
            <a:off x="431800" y="838200"/>
            <a:ext cx="5994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3300" b="1">
                <a:solidFill>
                  <a:srgbClr val="1E130A"/>
                </a:solidFill>
                <a:latin typeface="Arial" panose="020B0604020202020204" pitchFamily="34" charset="0"/>
              </a:rPr>
              <a:t>Jobs fill the feed.</a:t>
            </a:r>
            <a:endParaRPr kumimoji="1" lang="ja-JP" altLang="en-US" sz="33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801B2C-65C6-0451-BBE4-A36BC661239C}"/>
              </a:ext>
            </a:extLst>
          </p:cNvPr>
          <p:cNvSpPr txBox="1"/>
          <p:nvPr/>
        </p:nvSpPr>
        <p:spPr>
          <a:xfrm>
            <a:off x="431800" y="1828800"/>
            <a:ext cx="558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7A6248"/>
                </a:solidFill>
                <a:latin typeface="Arial" panose="020B0604020202020204" pitchFamily="34" charset="0"/>
              </a:rPr>
              <a:t>Cafes, restaurants, and bars can post roles in minutes.</a:t>
            </a:r>
            <a:endParaRPr kumimoji="1" lang="ja-JP" altLang="en-US" sz="15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FEBA1C5-AFC4-6676-CFAF-01408EB24A31}"/>
              </a:ext>
            </a:extLst>
          </p:cNvPr>
          <p:cNvSpPr/>
          <p:nvPr/>
        </p:nvSpPr>
        <p:spPr>
          <a:xfrm>
            <a:off x="850900" y="2222500"/>
            <a:ext cx="5156200" cy="8763000"/>
          </a:xfrm>
          <a:prstGeom prst="roundRect">
            <a:avLst>
              <a:gd name="adj" fmla="val 18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EC7D970-6767-BF67-C5EB-F819685E3AA6}"/>
              </a:ext>
            </a:extLst>
          </p:cNvPr>
          <p:cNvSpPr/>
          <p:nvPr/>
        </p:nvSpPr>
        <p:spPr>
          <a:xfrm>
            <a:off x="1003300" y="2374900"/>
            <a:ext cx="4851400" cy="8458200"/>
          </a:xfrm>
          <a:prstGeom prst="roundRect">
            <a:avLst>
              <a:gd name="adj" fmla="val 13000"/>
            </a:avLst>
          </a:prstGeom>
          <a:solidFill>
            <a:srgbClr val="F5F0E8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0DA3CF8-3648-28BF-E174-814861C7D641}"/>
              </a:ext>
            </a:extLst>
          </p:cNvPr>
          <p:cNvSpPr/>
          <p:nvPr/>
        </p:nvSpPr>
        <p:spPr>
          <a:xfrm>
            <a:off x="2641600" y="2501900"/>
            <a:ext cx="1574800" cy="254000"/>
          </a:xfrm>
          <a:prstGeom prst="roundRect">
            <a:avLst>
              <a:gd name="adj" fmla="val 50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597FE2-58DC-8A19-1207-DE2025397EAC}"/>
              </a:ext>
            </a:extLst>
          </p:cNvPr>
          <p:cNvSpPr txBox="1"/>
          <p:nvPr/>
        </p:nvSpPr>
        <p:spPr>
          <a:xfrm>
            <a:off x="1320800" y="3022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400" b="1">
                <a:solidFill>
                  <a:srgbClr val="1E130A"/>
                </a:solidFill>
                <a:latin typeface="Arial" panose="020B0604020202020204" pitchFamily="34" charset="0"/>
              </a:rPr>
              <a:t>Find Jobs</a:t>
            </a:r>
            <a:endParaRPr kumimoji="1" lang="ja-JP" altLang="en-US" sz="2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ED7FA48-8B47-E7AD-A882-F0AE2246BEE9}"/>
              </a:ext>
            </a:extLst>
          </p:cNvPr>
          <p:cNvSpPr/>
          <p:nvPr/>
        </p:nvSpPr>
        <p:spPr>
          <a:xfrm>
            <a:off x="1320800" y="3581400"/>
            <a:ext cx="4216400" cy="431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B95B90-B075-3510-30F0-DEC68D8EE51B}"/>
              </a:ext>
            </a:extLst>
          </p:cNvPr>
          <p:cNvSpPr txBox="1"/>
          <p:nvPr/>
        </p:nvSpPr>
        <p:spPr>
          <a:xfrm>
            <a:off x="1498600" y="37084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7A6248"/>
                </a:solidFill>
                <a:latin typeface="Arial" panose="020B0604020202020204" pitchFamily="34" charset="0"/>
              </a:rPr>
              <a:t>Search cafe, barista, kitchen...</a:t>
            </a:r>
            <a:endParaRPr kumimoji="1" lang="ja-JP" altLang="en-US" sz="10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881069-3C79-6223-2B79-3B85780CC70D}"/>
              </a:ext>
            </a:extLst>
          </p:cNvPr>
          <p:cNvSpPr txBox="1"/>
          <p:nvPr/>
        </p:nvSpPr>
        <p:spPr>
          <a:xfrm>
            <a:off x="1320800" y="42672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700" b="1">
                <a:solidFill>
                  <a:srgbClr val="1E130A"/>
                </a:solidFill>
                <a:latin typeface="Arial" panose="020B0604020202020204" pitchFamily="34" charset="0"/>
              </a:rPr>
              <a:t>Hiring now</a:t>
            </a:r>
            <a:endParaRPr kumimoji="1" lang="ja-JP" altLang="en-US" sz="17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416F8C6-35C5-6596-A589-C40B56BCCA61}"/>
              </a:ext>
            </a:extLst>
          </p:cNvPr>
          <p:cNvSpPr/>
          <p:nvPr/>
        </p:nvSpPr>
        <p:spPr>
          <a:xfrm>
            <a:off x="1320800" y="4749800"/>
            <a:ext cx="4216400" cy="939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B79DF77-1292-EA1A-86A0-B5436192CCA1}"/>
              </a:ext>
            </a:extLst>
          </p:cNvPr>
          <p:cNvSpPr/>
          <p:nvPr/>
        </p:nvSpPr>
        <p:spPr>
          <a:xfrm>
            <a:off x="1473200" y="4889500"/>
            <a:ext cx="660400" cy="660400"/>
          </a:xfrm>
          <a:prstGeom prst="roundRect">
            <a:avLst>
              <a:gd name="adj" fmla="val 16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D035CE5-2FF1-7FFD-56DF-B8EBEF1353CA}"/>
              </a:ext>
            </a:extLst>
          </p:cNvPr>
          <p:cNvSpPr txBox="1"/>
          <p:nvPr/>
        </p:nvSpPr>
        <p:spPr>
          <a:xfrm>
            <a:off x="1638300" y="5041900"/>
            <a:ext cx="35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FFFFFF"/>
                </a:solidFill>
                <a:latin typeface="Arial" panose="020B0604020202020204" pitchFamily="34" charset="0"/>
              </a:rPr>
              <a:t>C</a:t>
            </a:r>
            <a:endParaRPr kumimoji="1" lang="ja-JP" altLang="en-US" sz="2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89BC9A8-A3E0-FBF2-F9A0-3C36ADE05C36}"/>
              </a:ext>
            </a:extLst>
          </p:cNvPr>
          <p:cNvSpPr txBox="1"/>
          <p:nvPr/>
        </p:nvSpPr>
        <p:spPr>
          <a:xfrm>
            <a:off x="2286000" y="4902200"/>
            <a:ext cx="274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E130A"/>
                </a:solidFill>
                <a:latin typeface="Arial" panose="020B0604020202020204" pitchFamily="34" charset="0"/>
              </a:rPr>
              <a:t>Morning Barista</a:t>
            </a:r>
            <a:endParaRPr kumimoji="1" lang="ja-JP" altLang="en-US" sz="15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C4C4AE-6CCE-DC52-6949-B67C887DBA62}"/>
              </a:ext>
            </a:extLst>
          </p:cNvPr>
          <p:cNvSpPr txBox="1"/>
          <p:nvPr/>
        </p:nvSpPr>
        <p:spPr>
          <a:xfrm>
            <a:off x="2286000" y="51562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pt-BR" altLang="ja-JP" sz="950">
                <a:solidFill>
                  <a:srgbClr val="7A6248"/>
                </a:solidFill>
                <a:latin typeface="Arial" panose="020B0604020202020204" pitchFamily="34" charset="0"/>
              </a:rPr>
              <a:t>Harbour Cafe / Circular Quay /  hr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C083C91-1D1A-2D9E-E4F3-F683A5497A55}"/>
              </a:ext>
            </a:extLst>
          </p:cNvPr>
          <p:cNvSpPr/>
          <p:nvPr/>
        </p:nvSpPr>
        <p:spPr>
          <a:xfrm>
            <a:off x="2286000" y="53975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0BEE5CD-BABF-F17C-77DC-E80CA0693862}"/>
              </a:ext>
            </a:extLst>
          </p:cNvPr>
          <p:cNvSpPr txBox="1"/>
          <p:nvPr/>
        </p:nvSpPr>
        <p:spPr>
          <a:xfrm>
            <a:off x="2400300" y="5461000"/>
            <a:ext cx="81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Basic English OK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8F23D62-1B78-44FA-0CC7-3814B65F6219}"/>
              </a:ext>
            </a:extLst>
          </p:cNvPr>
          <p:cNvSpPr/>
          <p:nvPr/>
        </p:nvSpPr>
        <p:spPr>
          <a:xfrm>
            <a:off x="3403600" y="53975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7247292-C026-03B5-24A6-B9484BEAA4DF}"/>
              </a:ext>
            </a:extLst>
          </p:cNvPr>
          <p:cNvSpPr txBox="1"/>
          <p:nvPr/>
        </p:nvSpPr>
        <p:spPr>
          <a:xfrm>
            <a:off x="3517900" y="54610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Part-time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2858177-142C-D01F-14BF-979E6101CF32}"/>
              </a:ext>
            </a:extLst>
          </p:cNvPr>
          <p:cNvSpPr/>
          <p:nvPr/>
        </p:nvSpPr>
        <p:spPr>
          <a:xfrm>
            <a:off x="1320800" y="5829300"/>
            <a:ext cx="4216400" cy="939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C59D66E7-1538-3FF3-1A83-1EC899EFDF15}"/>
              </a:ext>
            </a:extLst>
          </p:cNvPr>
          <p:cNvSpPr/>
          <p:nvPr/>
        </p:nvSpPr>
        <p:spPr>
          <a:xfrm>
            <a:off x="1473200" y="5969000"/>
            <a:ext cx="660400" cy="660400"/>
          </a:xfrm>
          <a:prstGeom prst="roundRect">
            <a:avLst>
              <a:gd name="adj" fmla="val 16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0C7EED-1BC2-30B1-F550-6BFE94A332AD}"/>
              </a:ext>
            </a:extLst>
          </p:cNvPr>
          <p:cNvSpPr txBox="1"/>
          <p:nvPr/>
        </p:nvSpPr>
        <p:spPr>
          <a:xfrm>
            <a:off x="1638300" y="6121400"/>
            <a:ext cx="35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FFFFFF"/>
                </a:solidFill>
                <a:latin typeface="Arial" panose="020B0604020202020204" pitchFamily="34" charset="0"/>
              </a:rPr>
              <a:t>S</a:t>
            </a:r>
            <a:endParaRPr kumimoji="1" lang="ja-JP" altLang="en-US" sz="2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7B4DC9-8FB5-A289-2B3B-0093B294C6E6}"/>
              </a:ext>
            </a:extLst>
          </p:cNvPr>
          <p:cNvSpPr txBox="1"/>
          <p:nvPr/>
        </p:nvSpPr>
        <p:spPr>
          <a:xfrm>
            <a:off x="2286000" y="5981700"/>
            <a:ext cx="274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E130A"/>
                </a:solidFill>
                <a:latin typeface="Arial" panose="020B0604020202020204" pitchFamily="34" charset="0"/>
              </a:rPr>
              <a:t>Sushi Roll Maker</a:t>
            </a:r>
            <a:endParaRPr kumimoji="1" lang="ja-JP" altLang="en-US" sz="15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AFB5F32-5214-63E7-AB36-825535D49C34}"/>
              </a:ext>
            </a:extLst>
          </p:cNvPr>
          <p:cNvSpPr txBox="1"/>
          <p:nvPr/>
        </p:nvSpPr>
        <p:spPr>
          <a:xfrm>
            <a:off x="2286000" y="62357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Sakura Kitchen / CBD /  hr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E70C331-722D-B19B-C776-2DAFCC47F3AC}"/>
              </a:ext>
            </a:extLst>
          </p:cNvPr>
          <p:cNvSpPr/>
          <p:nvPr/>
        </p:nvSpPr>
        <p:spPr>
          <a:xfrm>
            <a:off x="2286000" y="64770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2EBFE9B-8F08-67FB-8115-65926D28728A}"/>
              </a:ext>
            </a:extLst>
          </p:cNvPr>
          <p:cNvSpPr txBox="1"/>
          <p:nvPr/>
        </p:nvSpPr>
        <p:spPr>
          <a:xfrm>
            <a:off x="2400300" y="65405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No English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E9D3829A-AD5D-919D-CE44-2607323876D1}"/>
              </a:ext>
            </a:extLst>
          </p:cNvPr>
          <p:cNvSpPr/>
          <p:nvPr/>
        </p:nvSpPr>
        <p:spPr>
          <a:xfrm>
            <a:off x="3403600" y="64770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19A8A98-BC73-367D-097C-386320B8EB06}"/>
              </a:ext>
            </a:extLst>
          </p:cNvPr>
          <p:cNvSpPr txBox="1"/>
          <p:nvPr/>
        </p:nvSpPr>
        <p:spPr>
          <a:xfrm>
            <a:off x="3517900" y="65405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Dinner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91D40923-075C-7EC4-6695-3F8DDB1BBBDA}"/>
              </a:ext>
            </a:extLst>
          </p:cNvPr>
          <p:cNvSpPr/>
          <p:nvPr/>
        </p:nvSpPr>
        <p:spPr>
          <a:xfrm>
            <a:off x="1320800" y="6908800"/>
            <a:ext cx="4216400" cy="9398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0D4F5D42-6144-FE2C-44F6-E3558490B567}"/>
              </a:ext>
            </a:extLst>
          </p:cNvPr>
          <p:cNvSpPr/>
          <p:nvPr/>
        </p:nvSpPr>
        <p:spPr>
          <a:xfrm>
            <a:off x="1473200" y="7048500"/>
            <a:ext cx="660400" cy="660400"/>
          </a:xfrm>
          <a:prstGeom prst="roundRect">
            <a:avLst>
              <a:gd name="adj" fmla="val 16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D5CFD80-45E6-E139-AABC-D6809F4005E9}"/>
              </a:ext>
            </a:extLst>
          </p:cNvPr>
          <p:cNvSpPr txBox="1"/>
          <p:nvPr/>
        </p:nvSpPr>
        <p:spPr>
          <a:xfrm>
            <a:off x="1638300" y="7200900"/>
            <a:ext cx="35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endParaRPr kumimoji="1" lang="ja-JP" altLang="en-US" sz="2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A019B4F-B87A-18A9-CD53-114780CD870D}"/>
              </a:ext>
            </a:extLst>
          </p:cNvPr>
          <p:cNvSpPr txBox="1"/>
          <p:nvPr/>
        </p:nvSpPr>
        <p:spPr>
          <a:xfrm>
            <a:off x="2286000" y="7061200"/>
            <a:ext cx="274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E130A"/>
                </a:solidFill>
                <a:latin typeface="Arial" panose="020B0604020202020204" pitchFamily="34" charset="0"/>
              </a:rPr>
              <a:t>Bartender</a:t>
            </a:r>
            <a:endParaRPr kumimoji="1" lang="ja-JP" altLang="en-US" sz="15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02A8F38-24EF-3C93-1BA5-4CFE08C951B1}"/>
              </a:ext>
            </a:extLst>
          </p:cNvPr>
          <p:cNvSpPr txBox="1"/>
          <p:nvPr/>
        </p:nvSpPr>
        <p:spPr>
          <a:xfrm>
            <a:off x="2286000" y="73152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George St Bar / CBD /  hr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CDB85BC3-598E-9D4B-D4B1-385814819E60}"/>
              </a:ext>
            </a:extLst>
          </p:cNvPr>
          <p:cNvSpPr/>
          <p:nvPr/>
        </p:nvSpPr>
        <p:spPr>
          <a:xfrm>
            <a:off x="2286000" y="75565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6E2D2B4-636D-AB71-0ECB-70F0F2C7F3BA}"/>
              </a:ext>
            </a:extLst>
          </p:cNvPr>
          <p:cNvSpPr txBox="1"/>
          <p:nvPr/>
        </p:nvSpPr>
        <p:spPr>
          <a:xfrm>
            <a:off x="2400300" y="76200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Weekend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00AC7957-E9DF-1239-65D8-E138C7D36259}"/>
              </a:ext>
            </a:extLst>
          </p:cNvPr>
          <p:cNvSpPr/>
          <p:nvPr/>
        </p:nvSpPr>
        <p:spPr>
          <a:xfrm>
            <a:off x="3403600" y="7556500"/>
            <a:ext cx="10414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7D14897-D764-E82E-E572-519CE2907C0C}"/>
              </a:ext>
            </a:extLst>
          </p:cNvPr>
          <p:cNvSpPr txBox="1"/>
          <p:nvPr/>
        </p:nvSpPr>
        <p:spPr>
          <a:xfrm>
            <a:off x="3517900" y="7620000"/>
            <a:ext cx="812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Trial shift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D169F444-0BB4-4C26-2699-084167F5D83B}"/>
              </a:ext>
            </a:extLst>
          </p:cNvPr>
          <p:cNvSpPr/>
          <p:nvPr/>
        </p:nvSpPr>
        <p:spPr>
          <a:xfrm>
            <a:off x="1295400" y="10058400"/>
            <a:ext cx="4267200" cy="584200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6837F7A-CC0B-3198-D1A5-AD383AE2F523}"/>
              </a:ext>
            </a:extLst>
          </p:cNvPr>
          <p:cNvSpPr txBox="1"/>
          <p:nvPr/>
        </p:nvSpPr>
        <p:spPr>
          <a:xfrm>
            <a:off x="1587500" y="10236200"/>
            <a:ext cx="3619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7A6248"/>
                </a:solidFill>
                <a:latin typeface="Arial" panose="020B0604020202020204" pitchFamily="34" charset="0"/>
              </a:rPr>
              <a:t>Home      Jobs      Staff      DM      Profile</a:t>
            </a:r>
            <a:endParaRPr kumimoji="1" lang="ja-JP" altLang="en-US" sz="10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324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fade thruBlk="1"/>
      </p:transition>
    </mc:Choice>
    <mc:Fallback>
      <p:transition spd="slow" advTm="3000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14F398-DED0-BB1D-112E-65283D8D0B19}"/>
              </a:ext>
            </a:extLst>
          </p:cNvPr>
          <p:cNvSpPr txBox="1"/>
          <p:nvPr/>
        </p:nvSpPr>
        <p:spPr>
          <a:xfrm>
            <a:off x="431800" y="431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9B4F1A"/>
                </a:solidFill>
                <a:latin typeface="Arial" panose="020B0604020202020204" pitchFamily="34" charset="0"/>
              </a:rPr>
              <a:t>WorkMate Australia</a:t>
            </a:r>
            <a:endParaRPr kumimoji="1" lang="ja-JP" altLang="en-US" sz="16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9E1A08-5A19-EA66-84E0-186273133084}"/>
              </a:ext>
            </a:extLst>
          </p:cNvPr>
          <p:cNvSpPr txBox="1"/>
          <p:nvPr/>
        </p:nvSpPr>
        <p:spPr>
          <a:xfrm>
            <a:off x="431800" y="838200"/>
            <a:ext cx="5994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3300" b="1">
                <a:solidFill>
                  <a:srgbClr val="1E130A"/>
                </a:solidFill>
                <a:latin typeface="Arial" panose="020B0604020202020204" pitchFamily="34" charset="0"/>
              </a:rPr>
              <a:t>Staff profiles are ready.</a:t>
            </a:r>
            <a:endParaRPr kumimoji="1" lang="ja-JP" altLang="en-US" sz="33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543376-C7EE-ADE1-5ABF-2E9CB515277E}"/>
              </a:ext>
            </a:extLst>
          </p:cNvPr>
          <p:cNvSpPr txBox="1"/>
          <p:nvPr/>
        </p:nvSpPr>
        <p:spPr>
          <a:xfrm>
            <a:off x="431800" y="1828800"/>
            <a:ext cx="558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7A6248"/>
                </a:solidFill>
                <a:latin typeface="Arial" panose="020B0604020202020204" pitchFamily="34" charset="0"/>
              </a:rPr>
              <a:t>WHV holders and students show availability, skills, and visa details.</a:t>
            </a:r>
            <a:endParaRPr kumimoji="1" lang="ja-JP" altLang="en-US" sz="15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733795E-BFC2-1D79-410F-FDB5BF4993A8}"/>
              </a:ext>
            </a:extLst>
          </p:cNvPr>
          <p:cNvSpPr/>
          <p:nvPr/>
        </p:nvSpPr>
        <p:spPr>
          <a:xfrm>
            <a:off x="850900" y="2222500"/>
            <a:ext cx="5156200" cy="8763000"/>
          </a:xfrm>
          <a:prstGeom prst="roundRect">
            <a:avLst>
              <a:gd name="adj" fmla="val 18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C188E51-704C-79C7-FEAB-704768205EBE}"/>
              </a:ext>
            </a:extLst>
          </p:cNvPr>
          <p:cNvSpPr/>
          <p:nvPr/>
        </p:nvSpPr>
        <p:spPr>
          <a:xfrm>
            <a:off x="1003300" y="2374900"/>
            <a:ext cx="4851400" cy="8458200"/>
          </a:xfrm>
          <a:prstGeom prst="roundRect">
            <a:avLst>
              <a:gd name="adj" fmla="val 13000"/>
            </a:avLst>
          </a:prstGeom>
          <a:solidFill>
            <a:srgbClr val="F5F0E8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E6DDA9F-A03C-C130-8562-4CBC9ACCC653}"/>
              </a:ext>
            </a:extLst>
          </p:cNvPr>
          <p:cNvSpPr/>
          <p:nvPr/>
        </p:nvSpPr>
        <p:spPr>
          <a:xfrm>
            <a:off x="2641600" y="2501900"/>
            <a:ext cx="1574800" cy="254000"/>
          </a:xfrm>
          <a:prstGeom prst="roundRect">
            <a:avLst>
              <a:gd name="adj" fmla="val 50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12FDD5D-0BF6-3E70-A30E-0B83923D7E57}"/>
              </a:ext>
            </a:extLst>
          </p:cNvPr>
          <p:cNvSpPr txBox="1"/>
          <p:nvPr/>
        </p:nvSpPr>
        <p:spPr>
          <a:xfrm>
            <a:off x="1320800" y="3022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400" b="1">
                <a:solidFill>
                  <a:srgbClr val="1E130A"/>
                </a:solidFill>
                <a:latin typeface="Arial" panose="020B0604020202020204" pitchFamily="34" charset="0"/>
              </a:rPr>
              <a:t>Find Staff</a:t>
            </a:r>
            <a:endParaRPr kumimoji="1" lang="ja-JP" altLang="en-US" sz="2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813468-EB2B-C221-7E86-8796EBB08920}"/>
              </a:ext>
            </a:extLst>
          </p:cNvPr>
          <p:cNvSpPr txBox="1"/>
          <p:nvPr/>
        </p:nvSpPr>
        <p:spPr>
          <a:xfrm>
            <a:off x="1320800" y="34290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50" b="1">
                <a:solidFill>
                  <a:srgbClr val="7A6248"/>
                </a:solidFill>
                <a:latin typeface="Arial" panose="020B0604020202020204" pitchFamily="34" charset="0"/>
              </a:rPr>
              <a:t>Available candidates in Sydney</a:t>
            </a:r>
            <a:endParaRPr kumimoji="1" lang="ja-JP" altLang="en-US" sz="105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C47EC9-922F-AF94-3A8F-89352C3FF3AD}"/>
              </a:ext>
            </a:extLst>
          </p:cNvPr>
          <p:cNvSpPr/>
          <p:nvPr/>
        </p:nvSpPr>
        <p:spPr>
          <a:xfrm>
            <a:off x="1320800" y="4038600"/>
            <a:ext cx="4216400" cy="8890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6639D75-8AF4-5121-35D4-5F20CA867A5C}"/>
              </a:ext>
            </a:extLst>
          </p:cNvPr>
          <p:cNvSpPr/>
          <p:nvPr/>
        </p:nvSpPr>
        <p:spPr>
          <a:xfrm>
            <a:off x="1473200" y="4191000"/>
            <a:ext cx="584200" cy="584200"/>
          </a:xfrm>
          <a:prstGeom prst="ellipse">
            <a:avLst/>
          </a:prstGeom>
          <a:solidFill>
            <a:srgbClr val="9B4F1A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FCD8D80-3AD5-2990-D6EF-9209A71C1B82}"/>
              </a:ext>
            </a:extLst>
          </p:cNvPr>
          <p:cNvSpPr txBox="1"/>
          <p:nvPr/>
        </p:nvSpPr>
        <p:spPr>
          <a:xfrm>
            <a:off x="1663700" y="4330700"/>
            <a:ext cx="25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M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080874-1339-341D-8D29-01BE66800978}"/>
              </a:ext>
            </a:extLst>
          </p:cNvPr>
          <p:cNvSpPr txBox="1"/>
          <p:nvPr/>
        </p:nvSpPr>
        <p:spPr>
          <a:xfrm>
            <a:off x="2209800" y="41783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1E130A"/>
                </a:solidFill>
                <a:latin typeface="Arial" panose="020B0604020202020204" pitchFamily="34" charset="0"/>
              </a:rPr>
              <a:t>Mika Tanaka</a:t>
            </a:r>
            <a:endParaRPr kumimoji="1" lang="ja-JP" altLang="en-US" sz="1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F3E227-E0EC-71D4-0E57-709843A4E644}"/>
              </a:ext>
            </a:extLst>
          </p:cNvPr>
          <p:cNvSpPr txBox="1"/>
          <p:nvPr/>
        </p:nvSpPr>
        <p:spPr>
          <a:xfrm>
            <a:off x="2209800" y="4419600"/>
            <a:ext cx="2413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Japan / Barista / Mon-Fri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DFBE633-88AE-0896-A37D-7E3AE9458465}"/>
              </a:ext>
            </a:extLst>
          </p:cNvPr>
          <p:cNvSpPr/>
          <p:nvPr/>
        </p:nvSpPr>
        <p:spPr>
          <a:xfrm>
            <a:off x="2209800" y="4648200"/>
            <a:ext cx="7874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E61DBBE-D2BE-40D3-BB7B-0EA04E94D3F9}"/>
              </a:ext>
            </a:extLst>
          </p:cNvPr>
          <p:cNvSpPr txBox="1"/>
          <p:nvPr/>
        </p:nvSpPr>
        <p:spPr>
          <a:xfrm>
            <a:off x="2324100" y="4711700"/>
            <a:ext cx="55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WHV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06FD18A-DC37-9860-D565-FBA27E3C240E}"/>
              </a:ext>
            </a:extLst>
          </p:cNvPr>
          <p:cNvSpPr/>
          <p:nvPr/>
        </p:nvSpPr>
        <p:spPr>
          <a:xfrm>
            <a:off x="3060700" y="46482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8DF9442-A85B-7060-230F-CCE76F175118}"/>
              </a:ext>
            </a:extLst>
          </p:cNvPr>
          <p:cNvSpPr txBox="1"/>
          <p:nvPr/>
        </p:nvSpPr>
        <p:spPr>
          <a:xfrm>
            <a:off x="3175000" y="4711700"/>
            <a:ext cx="977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Basic English OK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3C0111F-71AF-D0B2-2D68-FA3D8B44FA8D}"/>
              </a:ext>
            </a:extLst>
          </p:cNvPr>
          <p:cNvSpPr/>
          <p:nvPr/>
        </p:nvSpPr>
        <p:spPr>
          <a:xfrm>
            <a:off x="4787900" y="4343400"/>
            <a:ext cx="533400" cy="304800"/>
          </a:xfrm>
          <a:prstGeom prst="roundRect">
            <a:avLst>
              <a:gd name="adj" fmla="val 22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67746DE-D300-4E65-29B6-AEB30899ADB7}"/>
              </a:ext>
            </a:extLst>
          </p:cNvPr>
          <p:cNvSpPr txBox="1"/>
          <p:nvPr/>
        </p:nvSpPr>
        <p:spPr>
          <a:xfrm>
            <a:off x="4927600" y="44196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 b="1">
                <a:solidFill>
                  <a:srgbClr val="FFFFFF"/>
                </a:solidFill>
                <a:latin typeface="Arial" panose="020B0604020202020204" pitchFamily="34" charset="0"/>
              </a:rPr>
              <a:t>DM</a:t>
            </a:r>
            <a:endParaRPr kumimoji="1" lang="ja-JP" altLang="en-US" sz="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B0F0F65-738C-0E2B-FF8A-9772ADE8B9C8}"/>
              </a:ext>
            </a:extLst>
          </p:cNvPr>
          <p:cNvSpPr/>
          <p:nvPr/>
        </p:nvSpPr>
        <p:spPr>
          <a:xfrm>
            <a:off x="1320800" y="5080000"/>
            <a:ext cx="4216400" cy="8890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D5BC53F8-B923-C38E-FF6A-8A494C95E4D0}"/>
              </a:ext>
            </a:extLst>
          </p:cNvPr>
          <p:cNvSpPr/>
          <p:nvPr/>
        </p:nvSpPr>
        <p:spPr>
          <a:xfrm>
            <a:off x="1473200" y="5232400"/>
            <a:ext cx="584200" cy="584200"/>
          </a:xfrm>
          <a:prstGeom prst="ellipse">
            <a:avLst/>
          </a:prstGeom>
          <a:solidFill>
            <a:srgbClr val="9B4F1A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1F9569B-6297-D8FC-163F-5284EA32BA63}"/>
              </a:ext>
            </a:extLst>
          </p:cNvPr>
          <p:cNvSpPr txBox="1"/>
          <p:nvPr/>
        </p:nvSpPr>
        <p:spPr>
          <a:xfrm>
            <a:off x="1663700" y="5372100"/>
            <a:ext cx="25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J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5B8CFDB-7B64-29C7-AB61-ECF9ABF29080}"/>
              </a:ext>
            </a:extLst>
          </p:cNvPr>
          <p:cNvSpPr txBox="1"/>
          <p:nvPr/>
        </p:nvSpPr>
        <p:spPr>
          <a:xfrm>
            <a:off x="2209800" y="52197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1E130A"/>
                </a:solidFill>
                <a:latin typeface="Arial" panose="020B0604020202020204" pitchFamily="34" charset="0"/>
              </a:rPr>
              <a:t>Jiho Park</a:t>
            </a:r>
            <a:endParaRPr kumimoji="1" lang="ja-JP" altLang="en-US" sz="1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A3C31E2-1BE7-54E5-34B7-8E9BD8B7036A}"/>
              </a:ext>
            </a:extLst>
          </p:cNvPr>
          <p:cNvSpPr txBox="1"/>
          <p:nvPr/>
        </p:nvSpPr>
        <p:spPr>
          <a:xfrm>
            <a:off x="2209800" y="5461000"/>
            <a:ext cx="2413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Korea / Kitchen hand / Nights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3FA2CBDA-88B5-8E72-9D72-F80BCC2C6DE8}"/>
              </a:ext>
            </a:extLst>
          </p:cNvPr>
          <p:cNvSpPr/>
          <p:nvPr/>
        </p:nvSpPr>
        <p:spPr>
          <a:xfrm>
            <a:off x="2209800" y="5689600"/>
            <a:ext cx="7874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0B9E4FE-CBEF-C4EF-DC7E-8873BB045604}"/>
              </a:ext>
            </a:extLst>
          </p:cNvPr>
          <p:cNvSpPr txBox="1"/>
          <p:nvPr/>
        </p:nvSpPr>
        <p:spPr>
          <a:xfrm>
            <a:off x="2324100" y="5753100"/>
            <a:ext cx="55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Student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65210C43-6010-D9CB-607B-E6A345226C0D}"/>
              </a:ext>
            </a:extLst>
          </p:cNvPr>
          <p:cNvSpPr/>
          <p:nvPr/>
        </p:nvSpPr>
        <p:spPr>
          <a:xfrm>
            <a:off x="3060700" y="56896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9AB006B-D630-0EBE-3167-C2287E2A1E20}"/>
              </a:ext>
            </a:extLst>
          </p:cNvPr>
          <p:cNvSpPr txBox="1"/>
          <p:nvPr/>
        </p:nvSpPr>
        <p:spPr>
          <a:xfrm>
            <a:off x="3175000" y="5753100"/>
            <a:ext cx="97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Dinner shifts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B9A58E08-623D-5DDF-79A7-CF2A9D657355}"/>
              </a:ext>
            </a:extLst>
          </p:cNvPr>
          <p:cNvSpPr/>
          <p:nvPr/>
        </p:nvSpPr>
        <p:spPr>
          <a:xfrm>
            <a:off x="4787900" y="5384800"/>
            <a:ext cx="533400" cy="304800"/>
          </a:xfrm>
          <a:prstGeom prst="roundRect">
            <a:avLst>
              <a:gd name="adj" fmla="val 22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C75F8D9-CDF9-0D2A-D177-C531C028B4BF}"/>
              </a:ext>
            </a:extLst>
          </p:cNvPr>
          <p:cNvSpPr txBox="1"/>
          <p:nvPr/>
        </p:nvSpPr>
        <p:spPr>
          <a:xfrm>
            <a:off x="4927600" y="54610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 b="1">
                <a:solidFill>
                  <a:srgbClr val="FFFFFF"/>
                </a:solidFill>
                <a:latin typeface="Arial" panose="020B0604020202020204" pitchFamily="34" charset="0"/>
              </a:rPr>
              <a:t>DM</a:t>
            </a:r>
            <a:endParaRPr kumimoji="1" lang="ja-JP" altLang="en-US" sz="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A036969-103B-F22B-AC33-BF513988228A}"/>
              </a:ext>
            </a:extLst>
          </p:cNvPr>
          <p:cNvSpPr/>
          <p:nvPr/>
        </p:nvSpPr>
        <p:spPr>
          <a:xfrm>
            <a:off x="1320800" y="6121400"/>
            <a:ext cx="4216400" cy="8890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1E4701B8-0ECF-9871-B0E9-9AB5D2229D35}"/>
              </a:ext>
            </a:extLst>
          </p:cNvPr>
          <p:cNvSpPr/>
          <p:nvPr/>
        </p:nvSpPr>
        <p:spPr>
          <a:xfrm>
            <a:off x="1473200" y="6273800"/>
            <a:ext cx="584200" cy="584200"/>
          </a:xfrm>
          <a:prstGeom prst="ellipse">
            <a:avLst/>
          </a:prstGeom>
          <a:solidFill>
            <a:srgbClr val="9B4F1A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7E15D34-58F1-BB67-06A0-2DBDE02D5C12}"/>
              </a:ext>
            </a:extLst>
          </p:cNvPr>
          <p:cNvSpPr txBox="1"/>
          <p:nvPr/>
        </p:nvSpPr>
        <p:spPr>
          <a:xfrm>
            <a:off x="1663700" y="6413500"/>
            <a:ext cx="25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980618A-F2AC-EC92-7E3C-067479035E36}"/>
              </a:ext>
            </a:extLst>
          </p:cNvPr>
          <p:cNvSpPr txBox="1"/>
          <p:nvPr/>
        </p:nvSpPr>
        <p:spPr>
          <a:xfrm>
            <a:off x="2209800" y="62611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1E130A"/>
                </a:solidFill>
                <a:latin typeface="Arial" panose="020B0604020202020204" pitchFamily="34" charset="0"/>
              </a:rPr>
              <a:t>Alex Kim</a:t>
            </a:r>
            <a:endParaRPr kumimoji="1" lang="ja-JP" altLang="en-US" sz="1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7080898-09F3-0812-FBEB-72D99B15E6C2}"/>
              </a:ext>
            </a:extLst>
          </p:cNvPr>
          <p:cNvSpPr txBox="1"/>
          <p:nvPr/>
        </p:nvSpPr>
        <p:spPr>
          <a:xfrm>
            <a:off x="2209800" y="6502400"/>
            <a:ext cx="2413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WHV / Floor staff / Weekend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158095C-FF2E-C8CD-2F41-73C0FE2D6C5A}"/>
              </a:ext>
            </a:extLst>
          </p:cNvPr>
          <p:cNvSpPr/>
          <p:nvPr/>
        </p:nvSpPr>
        <p:spPr>
          <a:xfrm>
            <a:off x="2209800" y="6731000"/>
            <a:ext cx="7874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275AFE7-65C6-6FE9-2413-438B0E0457A4}"/>
              </a:ext>
            </a:extLst>
          </p:cNvPr>
          <p:cNvSpPr txBox="1"/>
          <p:nvPr/>
        </p:nvSpPr>
        <p:spPr>
          <a:xfrm>
            <a:off x="2324100" y="6794500"/>
            <a:ext cx="55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Cafe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1026D22E-0E5D-9D48-AAAE-A008BC39CAB5}"/>
              </a:ext>
            </a:extLst>
          </p:cNvPr>
          <p:cNvSpPr/>
          <p:nvPr/>
        </p:nvSpPr>
        <p:spPr>
          <a:xfrm>
            <a:off x="3060700" y="67310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812B2F1-7C7A-F5EC-1683-28BF205D78AE}"/>
              </a:ext>
            </a:extLst>
          </p:cNvPr>
          <p:cNvSpPr txBox="1"/>
          <p:nvPr/>
        </p:nvSpPr>
        <p:spPr>
          <a:xfrm>
            <a:off x="3175000" y="6794500"/>
            <a:ext cx="97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Restaurant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92BA84F7-19D4-C0C5-51D0-2A7B28968F41}"/>
              </a:ext>
            </a:extLst>
          </p:cNvPr>
          <p:cNvSpPr/>
          <p:nvPr/>
        </p:nvSpPr>
        <p:spPr>
          <a:xfrm>
            <a:off x="4787900" y="6426200"/>
            <a:ext cx="533400" cy="304800"/>
          </a:xfrm>
          <a:prstGeom prst="roundRect">
            <a:avLst>
              <a:gd name="adj" fmla="val 22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9FB26EA-9DA2-007F-BA0B-E60AF15D2E1A}"/>
              </a:ext>
            </a:extLst>
          </p:cNvPr>
          <p:cNvSpPr txBox="1"/>
          <p:nvPr/>
        </p:nvSpPr>
        <p:spPr>
          <a:xfrm>
            <a:off x="4927600" y="65024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 b="1">
                <a:solidFill>
                  <a:srgbClr val="FFFFFF"/>
                </a:solidFill>
                <a:latin typeface="Arial" panose="020B0604020202020204" pitchFamily="34" charset="0"/>
              </a:rPr>
              <a:t>DM</a:t>
            </a:r>
            <a:endParaRPr kumimoji="1" lang="ja-JP" altLang="en-US" sz="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0A6E64FA-44B6-15EB-CCD7-4E80F3A580BD}"/>
              </a:ext>
            </a:extLst>
          </p:cNvPr>
          <p:cNvSpPr/>
          <p:nvPr/>
        </p:nvSpPr>
        <p:spPr>
          <a:xfrm>
            <a:off x="1295400" y="10058400"/>
            <a:ext cx="4267200" cy="584200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F5ECE8-DA43-FA6E-3A32-488C8F61DA2E}"/>
              </a:ext>
            </a:extLst>
          </p:cNvPr>
          <p:cNvSpPr txBox="1"/>
          <p:nvPr/>
        </p:nvSpPr>
        <p:spPr>
          <a:xfrm>
            <a:off x="1587500" y="10236200"/>
            <a:ext cx="3619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7A6248"/>
                </a:solidFill>
                <a:latin typeface="Arial" panose="020B0604020202020204" pitchFamily="34" charset="0"/>
              </a:rPr>
              <a:t>Home      Jobs      Staff      DM      Profile</a:t>
            </a:r>
            <a:endParaRPr kumimoji="1" lang="ja-JP" altLang="en-US" sz="10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916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fade thruBlk="1"/>
      </p:transition>
    </mc:Choice>
    <mc:Fallback>
      <p:transition spd="slow" advTm="3000"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18A92D-F0F4-A9BF-6AD1-47ABB3EED734}"/>
              </a:ext>
            </a:extLst>
          </p:cNvPr>
          <p:cNvSpPr txBox="1"/>
          <p:nvPr/>
        </p:nvSpPr>
        <p:spPr>
          <a:xfrm>
            <a:off x="431800" y="431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9B4F1A"/>
                </a:solidFill>
                <a:latin typeface="Arial" panose="020B0604020202020204" pitchFamily="34" charset="0"/>
              </a:rPr>
              <a:t>WorkMate Australia</a:t>
            </a:r>
            <a:endParaRPr kumimoji="1" lang="ja-JP" altLang="en-US" sz="16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54651C-FB37-76D9-8A3B-08C3E90A42BD}"/>
              </a:ext>
            </a:extLst>
          </p:cNvPr>
          <p:cNvSpPr txBox="1"/>
          <p:nvPr/>
        </p:nvSpPr>
        <p:spPr>
          <a:xfrm>
            <a:off x="431800" y="838200"/>
            <a:ext cx="5994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3300" b="1">
                <a:solidFill>
                  <a:srgbClr val="1E130A"/>
                </a:solidFill>
                <a:latin typeface="Arial" panose="020B0604020202020204" pitchFamily="34" charset="0"/>
              </a:rPr>
              <a:t>Hiring moves to DM.</a:t>
            </a:r>
            <a:endParaRPr kumimoji="1" lang="ja-JP" altLang="en-US" sz="33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D36AAD-9E0F-446A-30F8-3918081014BD}"/>
              </a:ext>
            </a:extLst>
          </p:cNvPr>
          <p:cNvSpPr txBox="1"/>
          <p:nvPr/>
        </p:nvSpPr>
        <p:spPr>
          <a:xfrm>
            <a:off x="431800" y="1828800"/>
            <a:ext cx="558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7A6248"/>
                </a:solidFill>
                <a:latin typeface="Arial" panose="020B0604020202020204" pitchFamily="34" charset="0"/>
              </a:rPr>
              <a:t>No agency. No waiting. Just direct conversation.</a:t>
            </a:r>
            <a:endParaRPr kumimoji="1" lang="ja-JP" altLang="en-US" sz="15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552B656-19B8-44EB-07A9-350560B68D0B}"/>
              </a:ext>
            </a:extLst>
          </p:cNvPr>
          <p:cNvSpPr/>
          <p:nvPr/>
        </p:nvSpPr>
        <p:spPr>
          <a:xfrm>
            <a:off x="850900" y="2222500"/>
            <a:ext cx="5156200" cy="8763000"/>
          </a:xfrm>
          <a:prstGeom prst="roundRect">
            <a:avLst>
              <a:gd name="adj" fmla="val 18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E7968A5-1E45-F5C1-0D0F-B98FA1351CF7}"/>
              </a:ext>
            </a:extLst>
          </p:cNvPr>
          <p:cNvSpPr/>
          <p:nvPr/>
        </p:nvSpPr>
        <p:spPr>
          <a:xfrm>
            <a:off x="1003300" y="2374900"/>
            <a:ext cx="4851400" cy="8458200"/>
          </a:xfrm>
          <a:prstGeom prst="roundRect">
            <a:avLst>
              <a:gd name="adj" fmla="val 13000"/>
            </a:avLst>
          </a:prstGeom>
          <a:solidFill>
            <a:srgbClr val="F5F0E8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00F212D-E1B5-95D6-4BB9-1F60CC72BDF4}"/>
              </a:ext>
            </a:extLst>
          </p:cNvPr>
          <p:cNvSpPr/>
          <p:nvPr/>
        </p:nvSpPr>
        <p:spPr>
          <a:xfrm>
            <a:off x="2641600" y="2501900"/>
            <a:ext cx="1574800" cy="254000"/>
          </a:xfrm>
          <a:prstGeom prst="roundRect">
            <a:avLst>
              <a:gd name="adj" fmla="val 50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928793-D333-9E9B-D4A5-4E86E28FDF9C}"/>
              </a:ext>
            </a:extLst>
          </p:cNvPr>
          <p:cNvSpPr txBox="1"/>
          <p:nvPr/>
        </p:nvSpPr>
        <p:spPr>
          <a:xfrm>
            <a:off x="1320800" y="3022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400" b="1">
                <a:solidFill>
                  <a:srgbClr val="1E130A"/>
                </a:solidFill>
                <a:latin typeface="Arial" panose="020B0604020202020204" pitchFamily="34" charset="0"/>
              </a:rPr>
              <a:t>Messages</a:t>
            </a:r>
            <a:endParaRPr kumimoji="1" lang="ja-JP" altLang="en-US" sz="2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3B03010-7D70-399C-B258-A8ED96C39406}"/>
              </a:ext>
            </a:extLst>
          </p:cNvPr>
          <p:cNvSpPr/>
          <p:nvPr/>
        </p:nvSpPr>
        <p:spPr>
          <a:xfrm>
            <a:off x="1320800" y="3632200"/>
            <a:ext cx="4216400" cy="8890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CBFBCE44-792A-2747-E3C5-C0FAFF4CAF97}"/>
              </a:ext>
            </a:extLst>
          </p:cNvPr>
          <p:cNvSpPr/>
          <p:nvPr/>
        </p:nvSpPr>
        <p:spPr>
          <a:xfrm>
            <a:off x="1473200" y="3784600"/>
            <a:ext cx="584200" cy="584200"/>
          </a:xfrm>
          <a:prstGeom prst="ellipse">
            <a:avLst/>
          </a:prstGeom>
          <a:solidFill>
            <a:srgbClr val="9B4F1A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750395-4954-6AF5-9DC5-6604CB8C7974}"/>
              </a:ext>
            </a:extLst>
          </p:cNvPr>
          <p:cNvSpPr txBox="1"/>
          <p:nvPr/>
        </p:nvSpPr>
        <p:spPr>
          <a:xfrm>
            <a:off x="1663700" y="3924300"/>
            <a:ext cx="25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S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C45AF23-1770-738B-B969-732985333C71}"/>
              </a:ext>
            </a:extLst>
          </p:cNvPr>
          <p:cNvSpPr txBox="1"/>
          <p:nvPr/>
        </p:nvSpPr>
        <p:spPr>
          <a:xfrm>
            <a:off x="2209800" y="37719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1E130A"/>
                </a:solidFill>
                <a:latin typeface="Arial" panose="020B0604020202020204" pitchFamily="34" charset="0"/>
              </a:rPr>
              <a:t>Sakura Kitchen</a:t>
            </a:r>
            <a:endParaRPr kumimoji="1" lang="ja-JP" altLang="en-US" sz="1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E7564E1-0607-A27B-A027-92091D4F00CC}"/>
              </a:ext>
            </a:extLst>
          </p:cNvPr>
          <p:cNvSpPr txBox="1"/>
          <p:nvPr/>
        </p:nvSpPr>
        <p:spPr>
          <a:xfrm>
            <a:off x="2209800" y="4013200"/>
            <a:ext cx="2413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Trial shift available this Thursday?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A7A84BB-8FA1-7315-02BB-D6D55F21BB6B}"/>
              </a:ext>
            </a:extLst>
          </p:cNvPr>
          <p:cNvSpPr/>
          <p:nvPr/>
        </p:nvSpPr>
        <p:spPr>
          <a:xfrm>
            <a:off x="2209800" y="4241800"/>
            <a:ext cx="7874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C968D63-33D8-2B4B-92A5-703F65BA57F0}"/>
              </a:ext>
            </a:extLst>
          </p:cNvPr>
          <p:cNvSpPr txBox="1"/>
          <p:nvPr/>
        </p:nvSpPr>
        <p:spPr>
          <a:xfrm>
            <a:off x="2324100" y="4305300"/>
            <a:ext cx="55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2 new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7ED19FC-EFF3-940B-85DE-20620096F737}"/>
              </a:ext>
            </a:extLst>
          </p:cNvPr>
          <p:cNvSpPr/>
          <p:nvPr/>
        </p:nvSpPr>
        <p:spPr>
          <a:xfrm>
            <a:off x="3060700" y="42418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1012346-CA88-D5F9-DB2C-6706778CB375}"/>
              </a:ext>
            </a:extLst>
          </p:cNvPr>
          <p:cNvSpPr txBox="1"/>
          <p:nvPr/>
        </p:nvSpPr>
        <p:spPr>
          <a:xfrm>
            <a:off x="3175000" y="4305300"/>
            <a:ext cx="97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Kitchen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9874BFD-725E-3B75-DB08-BB4B432E1FD6}"/>
              </a:ext>
            </a:extLst>
          </p:cNvPr>
          <p:cNvSpPr/>
          <p:nvPr/>
        </p:nvSpPr>
        <p:spPr>
          <a:xfrm>
            <a:off x="4787900" y="3937000"/>
            <a:ext cx="533400" cy="304800"/>
          </a:xfrm>
          <a:prstGeom prst="roundRect">
            <a:avLst>
              <a:gd name="adj" fmla="val 22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652184-E20D-2CB4-8C38-D3CE382EEA27}"/>
              </a:ext>
            </a:extLst>
          </p:cNvPr>
          <p:cNvSpPr txBox="1"/>
          <p:nvPr/>
        </p:nvSpPr>
        <p:spPr>
          <a:xfrm>
            <a:off x="4927600" y="4013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 b="1">
                <a:solidFill>
                  <a:srgbClr val="FFFFFF"/>
                </a:solidFill>
                <a:latin typeface="Arial" panose="020B0604020202020204" pitchFamily="34" charset="0"/>
              </a:rPr>
              <a:t>DM</a:t>
            </a:r>
            <a:endParaRPr kumimoji="1" lang="ja-JP" altLang="en-US" sz="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854794F-5C11-A0AB-F84A-C94FABFD10FA}"/>
              </a:ext>
            </a:extLst>
          </p:cNvPr>
          <p:cNvSpPr/>
          <p:nvPr/>
        </p:nvSpPr>
        <p:spPr>
          <a:xfrm>
            <a:off x="1422400" y="4927600"/>
            <a:ext cx="317500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51FDB43-52C7-75B3-2493-0553452E5F74}"/>
              </a:ext>
            </a:extLst>
          </p:cNvPr>
          <p:cNvSpPr txBox="1"/>
          <p:nvPr/>
        </p:nvSpPr>
        <p:spPr>
          <a:xfrm>
            <a:off x="1600200" y="5105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1E130A"/>
                </a:solidFill>
                <a:latin typeface="Arial" panose="020B0604020202020204" pitchFamily="34" charset="0"/>
              </a:rPr>
              <a:t>Hi Mika, are you available for a trial shift this week?</a:t>
            </a:r>
            <a:endParaRPr kumimoji="1" lang="ja-JP" altLang="en-US" sz="1100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80B77D54-403A-820F-0C08-5EEFECF917CD}"/>
              </a:ext>
            </a:extLst>
          </p:cNvPr>
          <p:cNvSpPr/>
          <p:nvPr/>
        </p:nvSpPr>
        <p:spPr>
          <a:xfrm>
            <a:off x="2260600" y="5778500"/>
            <a:ext cx="2946400" cy="685800"/>
          </a:xfrm>
          <a:prstGeom prst="roundRect">
            <a:avLst>
              <a:gd name="adj" fmla="val 18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7474509-B399-C225-CDB9-C6757F941CE3}"/>
              </a:ext>
            </a:extLst>
          </p:cNvPr>
          <p:cNvSpPr txBox="1"/>
          <p:nvPr/>
        </p:nvSpPr>
        <p:spPr>
          <a:xfrm>
            <a:off x="2438400" y="59690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FFFFFF"/>
                </a:solidFill>
                <a:latin typeface="Arial" panose="020B0604020202020204" pitchFamily="34" charset="0"/>
              </a:rPr>
              <a:t>Yes, Wednesday or Thursday works for me.</a:t>
            </a:r>
            <a:endParaRPr kumimoji="1" lang="ja-JP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34D583DC-E53F-AE1D-D385-6A2B97C3937E}"/>
              </a:ext>
            </a:extLst>
          </p:cNvPr>
          <p:cNvSpPr/>
          <p:nvPr/>
        </p:nvSpPr>
        <p:spPr>
          <a:xfrm>
            <a:off x="1422400" y="6629400"/>
            <a:ext cx="317500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269E8AB-AC7B-A835-AC63-EADCF225558A}"/>
              </a:ext>
            </a:extLst>
          </p:cNvPr>
          <p:cNvSpPr txBox="1"/>
          <p:nvPr/>
        </p:nvSpPr>
        <p:spPr>
          <a:xfrm>
            <a:off x="1600200" y="6832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1E130A"/>
                </a:solidFill>
                <a:latin typeface="Arial" panose="020B0604020202020204" pitchFamily="34" charset="0"/>
              </a:rPr>
              <a:t>Great. Let's confirm Thursday 10am.</a:t>
            </a:r>
            <a:endParaRPr kumimoji="1" lang="ja-JP" altLang="en-US" sz="1100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8AE0724-7BF7-74EB-F109-ACF32E727C83}"/>
              </a:ext>
            </a:extLst>
          </p:cNvPr>
          <p:cNvSpPr/>
          <p:nvPr/>
        </p:nvSpPr>
        <p:spPr>
          <a:xfrm>
            <a:off x="1295400" y="10058400"/>
            <a:ext cx="4267200" cy="584200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07C2956-33A1-6D27-1574-0736B5C5AC64}"/>
              </a:ext>
            </a:extLst>
          </p:cNvPr>
          <p:cNvSpPr txBox="1"/>
          <p:nvPr/>
        </p:nvSpPr>
        <p:spPr>
          <a:xfrm>
            <a:off x="1587500" y="10236200"/>
            <a:ext cx="3619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7A6248"/>
                </a:solidFill>
                <a:latin typeface="Arial" panose="020B0604020202020204" pitchFamily="34" charset="0"/>
              </a:rPr>
              <a:t>Home      Jobs      Staff      DM      Profile</a:t>
            </a:r>
            <a:endParaRPr kumimoji="1" lang="ja-JP" altLang="en-US" sz="10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983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fade thruBlk="1"/>
      </p:transition>
    </mc:Choice>
    <mc:Fallback>
      <p:transition spd="slow" advTm="3000"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9323DE-CF59-A8C7-2DB9-E1772D0C1338}"/>
              </a:ext>
            </a:extLst>
          </p:cNvPr>
          <p:cNvSpPr txBox="1"/>
          <p:nvPr/>
        </p:nvSpPr>
        <p:spPr>
          <a:xfrm>
            <a:off x="431800" y="431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9B4F1A"/>
                </a:solidFill>
                <a:latin typeface="Arial" panose="020B0604020202020204" pitchFamily="34" charset="0"/>
              </a:rPr>
              <a:t>WorkMate Australia</a:t>
            </a:r>
            <a:endParaRPr kumimoji="1" lang="ja-JP" altLang="en-US" sz="16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5C63BF-BC6F-9528-F0B2-EC600CBC6390}"/>
              </a:ext>
            </a:extLst>
          </p:cNvPr>
          <p:cNvSpPr txBox="1"/>
          <p:nvPr/>
        </p:nvSpPr>
        <p:spPr>
          <a:xfrm>
            <a:off x="431800" y="838200"/>
            <a:ext cx="5994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3300" b="1">
                <a:solidFill>
                  <a:srgbClr val="1E130A"/>
                </a:solidFill>
                <a:latin typeface="Arial" panose="020B0604020202020204" pitchFamily="34" charset="0"/>
              </a:rPr>
              <a:t>WorkMate Australia</a:t>
            </a:r>
            <a:endParaRPr kumimoji="1" lang="ja-JP" altLang="en-US" sz="33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51327E-17D2-760F-D755-3FEC3C6F604E}"/>
              </a:ext>
            </a:extLst>
          </p:cNvPr>
          <p:cNvSpPr txBox="1"/>
          <p:nvPr/>
        </p:nvSpPr>
        <p:spPr>
          <a:xfrm>
            <a:off x="431800" y="1828800"/>
            <a:ext cx="558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7A6248"/>
                </a:solidFill>
                <a:latin typeface="Arial" panose="020B0604020202020204" pitchFamily="34" charset="0"/>
              </a:rPr>
              <a:t>Start hiring for free in Sydney hospitality.</a:t>
            </a:r>
            <a:endParaRPr kumimoji="1" lang="ja-JP" altLang="en-US" sz="15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30C8232-AF8A-0E47-B836-4BC8BBF116A7}"/>
              </a:ext>
            </a:extLst>
          </p:cNvPr>
          <p:cNvSpPr/>
          <p:nvPr/>
        </p:nvSpPr>
        <p:spPr>
          <a:xfrm>
            <a:off x="850900" y="2222500"/>
            <a:ext cx="5156200" cy="8763000"/>
          </a:xfrm>
          <a:prstGeom prst="roundRect">
            <a:avLst>
              <a:gd name="adj" fmla="val 18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B2DE2A7-6E73-1F52-5138-521AD39F5760}"/>
              </a:ext>
            </a:extLst>
          </p:cNvPr>
          <p:cNvSpPr/>
          <p:nvPr/>
        </p:nvSpPr>
        <p:spPr>
          <a:xfrm>
            <a:off x="1003300" y="2374900"/>
            <a:ext cx="4851400" cy="8458200"/>
          </a:xfrm>
          <a:prstGeom prst="roundRect">
            <a:avLst>
              <a:gd name="adj" fmla="val 13000"/>
            </a:avLst>
          </a:prstGeom>
          <a:solidFill>
            <a:srgbClr val="F5F0E8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4516706-F011-9D8D-C889-0194E7E9CB6F}"/>
              </a:ext>
            </a:extLst>
          </p:cNvPr>
          <p:cNvSpPr/>
          <p:nvPr/>
        </p:nvSpPr>
        <p:spPr>
          <a:xfrm>
            <a:off x="2641600" y="2501900"/>
            <a:ext cx="1574800" cy="254000"/>
          </a:xfrm>
          <a:prstGeom prst="roundRect">
            <a:avLst>
              <a:gd name="adj" fmla="val 50000"/>
            </a:avLst>
          </a:prstGeom>
          <a:solidFill>
            <a:srgbClr val="14100D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ABC9BED-1024-F5C1-8A20-BCFAF7D84D60}"/>
              </a:ext>
            </a:extLst>
          </p:cNvPr>
          <p:cNvSpPr txBox="1"/>
          <p:nvPr/>
        </p:nvSpPr>
        <p:spPr>
          <a:xfrm>
            <a:off x="1320800" y="3022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400" b="1">
                <a:solidFill>
                  <a:srgbClr val="1E130A"/>
                </a:solidFill>
                <a:latin typeface="Arial" panose="020B0604020202020204" pitchFamily="34" charset="0"/>
              </a:rPr>
              <a:t>My Listings</a:t>
            </a:r>
            <a:endParaRPr kumimoji="1" lang="ja-JP" altLang="en-US" sz="2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7A5092D-3E44-8A00-8320-38CEA8261666}"/>
              </a:ext>
            </a:extLst>
          </p:cNvPr>
          <p:cNvSpPr/>
          <p:nvPr/>
        </p:nvSpPr>
        <p:spPr>
          <a:xfrm>
            <a:off x="1320800" y="3632200"/>
            <a:ext cx="4216400" cy="9906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6C889B7-B9CB-09BC-9C12-6C08FE0BD4DA}"/>
              </a:ext>
            </a:extLst>
          </p:cNvPr>
          <p:cNvSpPr txBox="1"/>
          <p:nvPr/>
        </p:nvSpPr>
        <p:spPr>
          <a:xfrm>
            <a:off x="1524000" y="38354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E130A"/>
                </a:solidFill>
                <a:latin typeface="Arial" panose="020B0604020202020204" pitchFamily="34" charset="0"/>
              </a:rPr>
              <a:t>Kitchen staff wanted</a:t>
            </a:r>
            <a:endParaRPr kumimoji="1" lang="ja-JP" altLang="en-US" sz="15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A839BD2-1E9E-20A2-2619-1D5AE3165DF8}"/>
              </a:ext>
            </a:extLst>
          </p:cNvPr>
          <p:cNvSpPr txBox="1"/>
          <p:nvPr/>
        </p:nvSpPr>
        <p:spPr>
          <a:xfrm>
            <a:off x="1524000" y="41402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>
                <a:solidFill>
                  <a:srgbClr val="7A6248"/>
                </a:solidFill>
                <a:latin typeface="Arial" panose="020B0604020202020204" pitchFamily="34" charset="0"/>
              </a:rPr>
              <a:t>Sakura Kitchen / Sydney CBD /  hr</a:t>
            </a:r>
            <a:endParaRPr kumimoji="1" lang="ja-JP" altLang="en-US" sz="100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CD4CD26-2EF8-895C-514A-B8194233AE6E}"/>
              </a:ext>
            </a:extLst>
          </p:cNvPr>
          <p:cNvSpPr/>
          <p:nvPr/>
        </p:nvSpPr>
        <p:spPr>
          <a:xfrm>
            <a:off x="1524000" y="4368800"/>
            <a:ext cx="11430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906EFCC-C504-4268-28CD-AF34AEBA8358}"/>
              </a:ext>
            </a:extLst>
          </p:cNvPr>
          <p:cNvSpPr txBox="1"/>
          <p:nvPr/>
        </p:nvSpPr>
        <p:spPr>
          <a:xfrm>
            <a:off x="1638300" y="44323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14 applications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5261647-0FCF-B63C-809D-34A880B4A56E}"/>
              </a:ext>
            </a:extLst>
          </p:cNvPr>
          <p:cNvSpPr/>
          <p:nvPr/>
        </p:nvSpPr>
        <p:spPr>
          <a:xfrm>
            <a:off x="2743200" y="4368800"/>
            <a:ext cx="698500" cy="2159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8D2D336-2ACF-7B09-330E-A526BCFDBCAF}"/>
              </a:ext>
            </a:extLst>
          </p:cNvPr>
          <p:cNvSpPr txBox="1"/>
          <p:nvPr/>
        </p:nvSpPr>
        <p:spPr>
          <a:xfrm>
            <a:off x="2857500" y="4432300"/>
            <a:ext cx="46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Hiring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19C8BF-95D9-FDED-388A-FF47367CCB15}"/>
              </a:ext>
            </a:extLst>
          </p:cNvPr>
          <p:cNvSpPr txBox="1"/>
          <p:nvPr/>
        </p:nvSpPr>
        <p:spPr>
          <a:xfrm>
            <a:off x="1320800" y="49022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700" b="1">
                <a:solidFill>
                  <a:srgbClr val="1E130A"/>
                </a:solidFill>
                <a:latin typeface="Arial" panose="020B0604020202020204" pitchFamily="34" charset="0"/>
              </a:rPr>
              <a:t>New applicants</a:t>
            </a:r>
            <a:endParaRPr kumimoji="1" lang="ja-JP" altLang="en-US" sz="17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3C45E6A-6F62-8326-D9C8-D549E55BF739}"/>
              </a:ext>
            </a:extLst>
          </p:cNvPr>
          <p:cNvSpPr/>
          <p:nvPr/>
        </p:nvSpPr>
        <p:spPr>
          <a:xfrm>
            <a:off x="1320800" y="5384800"/>
            <a:ext cx="4216400" cy="8890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B1840DA6-08AB-C093-4F71-7CC3E05E59AC}"/>
              </a:ext>
            </a:extLst>
          </p:cNvPr>
          <p:cNvSpPr/>
          <p:nvPr/>
        </p:nvSpPr>
        <p:spPr>
          <a:xfrm>
            <a:off x="1473200" y="5537200"/>
            <a:ext cx="584200" cy="584200"/>
          </a:xfrm>
          <a:prstGeom prst="ellipse">
            <a:avLst/>
          </a:prstGeom>
          <a:solidFill>
            <a:srgbClr val="9B4F1A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5386879-9F9A-D897-B65A-BB2CA0F05513}"/>
              </a:ext>
            </a:extLst>
          </p:cNvPr>
          <p:cNvSpPr txBox="1"/>
          <p:nvPr/>
        </p:nvSpPr>
        <p:spPr>
          <a:xfrm>
            <a:off x="1663700" y="5676900"/>
            <a:ext cx="25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J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EA8535D-AB7D-9C34-CF14-1D443A27F150}"/>
              </a:ext>
            </a:extLst>
          </p:cNvPr>
          <p:cNvSpPr txBox="1"/>
          <p:nvPr/>
        </p:nvSpPr>
        <p:spPr>
          <a:xfrm>
            <a:off x="2209800" y="55245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1E130A"/>
                </a:solidFill>
                <a:latin typeface="Arial" panose="020B0604020202020204" pitchFamily="34" charset="0"/>
              </a:rPr>
              <a:t>Jiho Park</a:t>
            </a:r>
            <a:endParaRPr kumimoji="1" lang="ja-JP" altLang="en-US" sz="1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6675A31-74AB-8BF5-0B1A-AE39A7DE656E}"/>
              </a:ext>
            </a:extLst>
          </p:cNvPr>
          <p:cNvSpPr txBox="1"/>
          <p:nvPr/>
        </p:nvSpPr>
        <p:spPr>
          <a:xfrm>
            <a:off x="2209800" y="5765800"/>
            <a:ext cx="241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Kitchen hand experience. Available weeknights.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416E3708-76EC-CB6B-EAA2-ED6242EF224B}"/>
              </a:ext>
            </a:extLst>
          </p:cNvPr>
          <p:cNvSpPr/>
          <p:nvPr/>
        </p:nvSpPr>
        <p:spPr>
          <a:xfrm>
            <a:off x="2209800" y="5994400"/>
            <a:ext cx="7874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232DCBA-1DD3-F196-033F-8C23F8D9DCEB}"/>
              </a:ext>
            </a:extLst>
          </p:cNvPr>
          <p:cNvSpPr txBox="1"/>
          <p:nvPr/>
        </p:nvSpPr>
        <p:spPr>
          <a:xfrm>
            <a:off x="2324100" y="6057900"/>
            <a:ext cx="55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Student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0C2ACF06-D762-103C-649F-F773D2BA3999}"/>
              </a:ext>
            </a:extLst>
          </p:cNvPr>
          <p:cNvSpPr/>
          <p:nvPr/>
        </p:nvSpPr>
        <p:spPr>
          <a:xfrm>
            <a:off x="3060700" y="59944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9AC3268-6AC0-C3B2-B6D8-90A66177CCAF}"/>
              </a:ext>
            </a:extLst>
          </p:cNvPr>
          <p:cNvSpPr txBox="1"/>
          <p:nvPr/>
        </p:nvSpPr>
        <p:spPr>
          <a:xfrm>
            <a:off x="3175000" y="6057900"/>
            <a:ext cx="97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Ready now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2FAF1491-8DB8-C882-7E83-6981BB4CB6F9}"/>
              </a:ext>
            </a:extLst>
          </p:cNvPr>
          <p:cNvSpPr/>
          <p:nvPr/>
        </p:nvSpPr>
        <p:spPr>
          <a:xfrm>
            <a:off x="4787900" y="5689600"/>
            <a:ext cx="533400" cy="304800"/>
          </a:xfrm>
          <a:prstGeom prst="roundRect">
            <a:avLst>
              <a:gd name="adj" fmla="val 22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3977C93-73C0-A6CA-218F-3754EEE21B93}"/>
              </a:ext>
            </a:extLst>
          </p:cNvPr>
          <p:cNvSpPr txBox="1"/>
          <p:nvPr/>
        </p:nvSpPr>
        <p:spPr>
          <a:xfrm>
            <a:off x="4927600" y="57658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 b="1">
                <a:solidFill>
                  <a:srgbClr val="FFFFFF"/>
                </a:solidFill>
                <a:latin typeface="Arial" panose="020B0604020202020204" pitchFamily="34" charset="0"/>
              </a:rPr>
              <a:t>DM</a:t>
            </a:r>
            <a:endParaRPr kumimoji="1" lang="ja-JP" altLang="en-US" sz="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422E1914-1309-77B4-40CD-3460DD9C9133}"/>
              </a:ext>
            </a:extLst>
          </p:cNvPr>
          <p:cNvSpPr/>
          <p:nvPr/>
        </p:nvSpPr>
        <p:spPr>
          <a:xfrm>
            <a:off x="1320800" y="6426200"/>
            <a:ext cx="4216400" cy="889000"/>
          </a:xfrm>
          <a:prstGeom prst="roundRect">
            <a:avLst>
              <a:gd name="adj" fmla="val 16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F7AD6145-2C2B-C54E-D7D1-57366BDAE2CA}"/>
              </a:ext>
            </a:extLst>
          </p:cNvPr>
          <p:cNvSpPr/>
          <p:nvPr/>
        </p:nvSpPr>
        <p:spPr>
          <a:xfrm>
            <a:off x="1473200" y="6578600"/>
            <a:ext cx="584200" cy="584200"/>
          </a:xfrm>
          <a:prstGeom prst="ellipse">
            <a:avLst/>
          </a:prstGeom>
          <a:solidFill>
            <a:srgbClr val="9B4F1A"/>
          </a:solidFill>
          <a:ln w="1905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7311D19-D13C-03B6-D490-07F505046020}"/>
              </a:ext>
            </a:extLst>
          </p:cNvPr>
          <p:cNvSpPr txBox="1"/>
          <p:nvPr/>
        </p:nvSpPr>
        <p:spPr>
          <a:xfrm>
            <a:off x="1663700" y="6718300"/>
            <a:ext cx="25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Y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73670D6-F266-689C-D7E9-4783D7A49395}"/>
              </a:ext>
            </a:extLst>
          </p:cNvPr>
          <p:cNvSpPr txBox="1"/>
          <p:nvPr/>
        </p:nvSpPr>
        <p:spPr>
          <a:xfrm>
            <a:off x="2209800" y="65659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1E130A"/>
                </a:solidFill>
                <a:latin typeface="Arial" panose="020B0604020202020204" pitchFamily="34" charset="0"/>
              </a:rPr>
              <a:t>Yui Sato</a:t>
            </a:r>
            <a:endParaRPr kumimoji="1" lang="ja-JP" altLang="en-US" sz="1400" b="1">
              <a:solidFill>
                <a:srgbClr val="1E130A"/>
              </a:solidFill>
              <a:latin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1F01C8E-6E5A-FD12-8E5D-6EBAFC9E717A}"/>
              </a:ext>
            </a:extLst>
          </p:cNvPr>
          <p:cNvSpPr txBox="1"/>
          <p:nvPr/>
        </p:nvSpPr>
        <p:spPr>
          <a:xfrm>
            <a:off x="2209800" y="6807200"/>
            <a:ext cx="241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50">
                <a:solidFill>
                  <a:srgbClr val="7A6248"/>
                </a:solidFill>
                <a:latin typeface="Arial" panose="020B0604020202020204" pitchFamily="34" charset="0"/>
              </a:rPr>
              <a:t>Japanese restaurant experience. WHV holder.</a:t>
            </a:r>
            <a:endParaRPr kumimoji="1" lang="ja-JP" altLang="en-US" sz="950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63BE445B-49E9-204D-1A0F-930BC53CE195}"/>
              </a:ext>
            </a:extLst>
          </p:cNvPr>
          <p:cNvSpPr/>
          <p:nvPr/>
        </p:nvSpPr>
        <p:spPr>
          <a:xfrm>
            <a:off x="2209800" y="7035800"/>
            <a:ext cx="7874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8E97B0E-4CF9-0E5B-D74B-5941037B9EDF}"/>
              </a:ext>
            </a:extLst>
          </p:cNvPr>
          <p:cNvSpPr txBox="1"/>
          <p:nvPr/>
        </p:nvSpPr>
        <p:spPr>
          <a:xfrm>
            <a:off x="2324100" y="7099300"/>
            <a:ext cx="55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WHV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2E2628E0-952C-CBD1-503B-02358E716A3D}"/>
              </a:ext>
            </a:extLst>
          </p:cNvPr>
          <p:cNvSpPr/>
          <p:nvPr/>
        </p:nvSpPr>
        <p:spPr>
          <a:xfrm>
            <a:off x="3060700" y="70358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F7EEE8"/>
          </a:solidFill>
          <a:ln w="19050" cap="flat" cmpd="sng" algn="ctr">
            <a:solidFill>
              <a:srgbClr val="A0BFD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E082BE0-17BC-703A-9769-016A34098B82}"/>
              </a:ext>
            </a:extLst>
          </p:cNvPr>
          <p:cNvSpPr txBox="1"/>
          <p:nvPr/>
        </p:nvSpPr>
        <p:spPr>
          <a:xfrm>
            <a:off x="3175000" y="7099300"/>
            <a:ext cx="97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9B4F1A"/>
                </a:solidFill>
                <a:latin typeface="Arial" panose="020B0604020202020204" pitchFamily="34" charset="0"/>
              </a:rPr>
              <a:t>CBD</a:t>
            </a:r>
            <a:endParaRPr kumimoji="1" lang="ja-JP" altLang="en-US" sz="1000" b="1">
              <a:solidFill>
                <a:srgbClr val="9B4F1A"/>
              </a:solidFill>
              <a:latin typeface="Arial" panose="020B0604020202020204" pitchFamily="34" charset="0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C73F1BC0-C5FE-B54A-2126-E7D6C0B48B15}"/>
              </a:ext>
            </a:extLst>
          </p:cNvPr>
          <p:cNvSpPr/>
          <p:nvPr/>
        </p:nvSpPr>
        <p:spPr>
          <a:xfrm>
            <a:off x="4787900" y="6731000"/>
            <a:ext cx="533400" cy="304800"/>
          </a:xfrm>
          <a:prstGeom prst="roundRect">
            <a:avLst>
              <a:gd name="adj" fmla="val 22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5B846A9-F27A-2617-57AF-53FDD6C4524B}"/>
              </a:ext>
            </a:extLst>
          </p:cNvPr>
          <p:cNvSpPr txBox="1"/>
          <p:nvPr/>
        </p:nvSpPr>
        <p:spPr>
          <a:xfrm>
            <a:off x="4927600" y="6807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 b="1">
                <a:solidFill>
                  <a:srgbClr val="FFFFFF"/>
                </a:solidFill>
                <a:latin typeface="Arial" panose="020B0604020202020204" pitchFamily="34" charset="0"/>
              </a:rPr>
              <a:t>DM</a:t>
            </a:r>
            <a:endParaRPr kumimoji="1" lang="ja-JP" altLang="en-US" sz="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64FD67F-F5EB-1467-2F01-38E5F331B8F3}"/>
              </a:ext>
            </a:extLst>
          </p:cNvPr>
          <p:cNvSpPr/>
          <p:nvPr/>
        </p:nvSpPr>
        <p:spPr>
          <a:xfrm>
            <a:off x="1320800" y="7975600"/>
            <a:ext cx="4216400" cy="812800"/>
          </a:xfrm>
          <a:prstGeom prst="roundRect">
            <a:avLst>
              <a:gd name="adj" fmla="val 18000"/>
            </a:avLst>
          </a:prstGeom>
          <a:solidFill>
            <a:srgbClr val="9B4F1A"/>
          </a:solidFill>
          <a:ln w="19050" cap="flat" cmpd="sng" algn="ctr">
            <a:solidFill>
              <a:srgbClr val="A07D5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E648313-D01E-0F7A-D418-79D6AF2D74F7}"/>
              </a:ext>
            </a:extLst>
          </p:cNvPr>
          <p:cNvSpPr txBox="1"/>
          <p:nvPr/>
        </p:nvSpPr>
        <p:spPr>
          <a:xfrm>
            <a:off x="1714500" y="8204200"/>
            <a:ext cx="330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000" b="1">
                <a:solidFill>
                  <a:srgbClr val="FFFFFF"/>
                </a:solidFill>
                <a:latin typeface="Arial" panose="020B0604020202020204" pitchFamily="34" charset="0"/>
              </a:rPr>
              <a:t>Start hiring for free</a:t>
            </a:r>
            <a:endParaRPr kumimoji="1" lang="ja-JP" altLang="en-US" sz="2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A2D442B-6A47-1B84-0275-F5D5A244A2C5}"/>
              </a:ext>
            </a:extLst>
          </p:cNvPr>
          <p:cNvSpPr txBox="1"/>
          <p:nvPr/>
        </p:nvSpPr>
        <p:spPr>
          <a:xfrm>
            <a:off x="1905000" y="85852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50" b="1">
                <a:solidFill>
                  <a:srgbClr val="FFFFFF"/>
                </a:solidFill>
                <a:latin typeface="Arial" panose="020B0604020202020204" pitchFamily="34" charset="0"/>
              </a:rPr>
              <a:t>workmate-three.vercel.app</a:t>
            </a:r>
            <a:endParaRPr kumimoji="1" lang="ja-JP" altLang="en-US" sz="105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0FB4C760-6DA6-77D4-9B2D-BBEC22963859}"/>
              </a:ext>
            </a:extLst>
          </p:cNvPr>
          <p:cNvSpPr/>
          <p:nvPr/>
        </p:nvSpPr>
        <p:spPr>
          <a:xfrm>
            <a:off x="1295400" y="10058400"/>
            <a:ext cx="4267200" cy="584200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9050" cap="flat" cmpd="sng" algn="ctr">
            <a:solidFill>
              <a:srgbClr val="A07D5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FE5DCB4-82AA-2E6A-D94B-A45D3D0BF4C8}"/>
              </a:ext>
            </a:extLst>
          </p:cNvPr>
          <p:cNvSpPr txBox="1"/>
          <p:nvPr/>
        </p:nvSpPr>
        <p:spPr>
          <a:xfrm>
            <a:off x="1587500" y="10236200"/>
            <a:ext cx="3619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 b="1">
                <a:solidFill>
                  <a:srgbClr val="7A6248"/>
                </a:solidFill>
                <a:latin typeface="Arial" panose="020B0604020202020204" pitchFamily="34" charset="0"/>
              </a:rPr>
              <a:t>Home      Jobs      Staff      DM      Profile</a:t>
            </a:r>
            <a:endParaRPr kumimoji="1" lang="ja-JP" altLang="en-US" sz="1000" b="1">
              <a:solidFill>
                <a:srgbClr val="7A624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918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fade thruBlk="1"/>
      </p:transition>
    </mc:Choice>
    <mc:Fallback>
      <p:transition spd="slow" advTm="3000">
        <p:fade thruBlk="1"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ユーザー設定</PresentationFormat>
  <Paragraphs>108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陽琉 四方</dc:creator>
  <cp:lastModifiedBy>陽琉 四方</cp:lastModifiedBy>
  <cp:revision>1</cp:revision>
  <dcterms:created xsi:type="dcterms:W3CDTF">2026-06-11T03:01:17Z</dcterms:created>
  <dcterms:modified xsi:type="dcterms:W3CDTF">2026-06-11T03:01:17Z</dcterms:modified>
</cp:coreProperties>
</file>